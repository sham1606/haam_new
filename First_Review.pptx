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67" r:id="rId3"/>
    <p:sldId id="258" r:id="rId4"/>
    <p:sldId id="259" r:id="rId5"/>
    <p:sldId id="268" r:id="rId6"/>
    <p:sldId id="269" r:id="rId7"/>
    <p:sldId id="260" r:id="rId8"/>
    <p:sldId id="262" r:id="rId9"/>
    <p:sldId id="263" r:id="rId10"/>
    <p:sldId id="272" r:id="rId11"/>
    <p:sldId id="264" r:id="rId12"/>
    <p:sldId id="265" r:id="rId13"/>
    <p:sldId id="266"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182094-6799-4822-B1CE-24D976329CBA}" type="datetimeFigureOut">
              <a:rPr lang="en-US" smtClean="0"/>
              <a:t>7/22/2025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821AD7-4908-405F-AE65-968B72D6C676}" type="slidenum">
              <a:rPr lang="en-US" smtClean="0"/>
              <a:t>‹#›</a:t>
            </a:fld>
            <a:endParaRPr lang="en-US"/>
          </a:p>
        </p:txBody>
      </p:sp>
    </p:spTree>
    <p:extLst>
      <p:ext uri="{BB962C8B-B14F-4D97-AF65-F5344CB8AC3E}">
        <p14:creationId xmlns:p14="http://schemas.microsoft.com/office/powerpoint/2010/main" val="1632816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33C58-8AFB-6F14-507C-27B4CB98B2A1}"/>
              </a:ext>
            </a:extLst>
          </p:cNvPr>
          <p:cNvSpPr>
            <a:spLocks noGrp="1"/>
          </p:cNvSpPr>
          <p:nvPr>
            <p:ph type="ctrTitle" hasCustomPrompt="1"/>
          </p:nvPr>
        </p:nvSpPr>
        <p:spPr>
          <a:xfrm>
            <a:off x="1454989" y="2437994"/>
            <a:ext cx="9144000" cy="1240899"/>
          </a:xfrm>
        </p:spPr>
        <p:txBody>
          <a:bodyPr anchor="b">
            <a:normAutofit/>
          </a:bodyPr>
          <a:lstStyle>
            <a:lvl1pPr marL="0" marR="0" indent="0" algn="ctr" defTabSz="914400" rtl="0" eaLnBrk="1" fontAlgn="auto" latinLnBrk="0" hangingPunct="1">
              <a:lnSpc>
                <a:spcPct val="90000"/>
              </a:lnSpc>
              <a:spcBef>
                <a:spcPct val="0"/>
              </a:spcBef>
              <a:spcAft>
                <a:spcPts val="0"/>
              </a:spcAft>
              <a:buClrTx/>
              <a:buSzTx/>
              <a:buFontTx/>
              <a:buNone/>
              <a:tabLst/>
              <a:defRPr sz="3600">
                <a:solidFill>
                  <a:schemeClr val="accent1">
                    <a:lumMod val="50000"/>
                  </a:schemeClr>
                </a:solidFill>
                <a:latin typeface="Times New Roman" panose="02020603050405020304" pitchFamily="18" charset="0"/>
                <a:cs typeface="Times New Roman" panose="02020603050405020304" pitchFamily="18"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t>Phase – I: ___ Review</a:t>
            </a:r>
            <a:br>
              <a:rPr lang="en-US" dirty="0"/>
            </a:br>
            <a:r>
              <a:rPr lang="en-US" dirty="0"/>
              <a:t>Project title</a:t>
            </a:r>
          </a:p>
        </p:txBody>
      </p:sp>
      <p:sp>
        <p:nvSpPr>
          <p:cNvPr id="3" name="Subtitle 2">
            <a:extLst>
              <a:ext uri="{FF2B5EF4-FFF2-40B4-BE49-F238E27FC236}">
                <a16:creationId xmlns:a16="http://schemas.microsoft.com/office/drawing/2014/main" id="{D6F02131-A0B8-AFE6-5BD1-CFA0AA490CF8}"/>
              </a:ext>
            </a:extLst>
          </p:cNvPr>
          <p:cNvSpPr>
            <a:spLocks noGrp="1"/>
          </p:cNvSpPr>
          <p:nvPr>
            <p:ph type="subTitle" idx="1" hasCustomPrompt="1"/>
          </p:nvPr>
        </p:nvSpPr>
        <p:spPr>
          <a:xfrm>
            <a:off x="1523999" y="4026556"/>
            <a:ext cx="9144000" cy="2046439"/>
          </a:xfrm>
        </p:spPr>
        <p:txBody>
          <a:bodyPr>
            <a:normAutofit/>
          </a:bodyPr>
          <a:lstStyle>
            <a:lvl1pPr marL="0" indent="0" algn="l">
              <a:buNone/>
              <a:defRPr sz="1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Team Members:					Guided By:</a:t>
            </a:r>
          </a:p>
          <a:p>
            <a:r>
              <a:rPr lang="en-US" dirty="0"/>
              <a:t>1. Name of the Team Member: Register Number			Name of the Guide</a:t>
            </a:r>
          </a:p>
          <a:p>
            <a:r>
              <a:rPr lang="en-US" dirty="0"/>
              <a:t>2. 							Designation</a:t>
            </a:r>
          </a:p>
          <a:p>
            <a:r>
              <a:rPr lang="en-US" dirty="0"/>
              <a:t>3. 							Name of the Guide</a:t>
            </a:r>
          </a:p>
          <a:p>
            <a:r>
              <a:rPr lang="en-US" dirty="0"/>
              <a:t>4. </a:t>
            </a:r>
          </a:p>
          <a:p>
            <a:endParaRPr lang="en-US" dirty="0"/>
          </a:p>
        </p:txBody>
      </p:sp>
      <p:sp>
        <p:nvSpPr>
          <p:cNvPr id="4" name="Date Placeholder 3">
            <a:extLst>
              <a:ext uri="{FF2B5EF4-FFF2-40B4-BE49-F238E27FC236}">
                <a16:creationId xmlns:a16="http://schemas.microsoft.com/office/drawing/2014/main" id="{814A6184-1008-CF42-BC03-60E10F0A1745}"/>
              </a:ext>
            </a:extLst>
          </p:cNvPr>
          <p:cNvSpPr>
            <a:spLocks noGrp="1"/>
          </p:cNvSpPr>
          <p:nvPr>
            <p:ph type="dt" sz="half" idx="10"/>
          </p:nvPr>
        </p:nvSpPr>
        <p:spPr/>
        <p:txBody>
          <a:bodyPr/>
          <a:lstStyle/>
          <a:p>
            <a:fld id="{975CA594-890C-40F3-8C87-97BC4235583B}" type="datetime1">
              <a:rPr lang="en-US" smtClean="0"/>
              <a:t>7/22/2025</a:t>
            </a:fld>
            <a:endParaRPr lang="en-US"/>
          </a:p>
        </p:txBody>
      </p:sp>
      <p:sp>
        <p:nvSpPr>
          <p:cNvPr id="5" name="Footer Placeholder 4">
            <a:extLst>
              <a:ext uri="{FF2B5EF4-FFF2-40B4-BE49-F238E27FC236}">
                <a16:creationId xmlns:a16="http://schemas.microsoft.com/office/drawing/2014/main" id="{67F2114E-039A-9992-6275-4F4C219C8BF3}"/>
              </a:ext>
            </a:extLst>
          </p:cNvPr>
          <p:cNvSpPr>
            <a:spLocks noGrp="1"/>
          </p:cNvSpPr>
          <p:nvPr>
            <p:ph type="ftr" sz="quarter" idx="11"/>
          </p:nvPr>
        </p:nvSpPr>
        <p:spPr/>
        <p:txBody>
          <a:bodyPr/>
          <a:lstStyle/>
          <a:p>
            <a:r>
              <a:rPr lang="en-US" dirty="0"/>
              <a:t>Department of AI &amp; DS</a:t>
            </a:r>
          </a:p>
        </p:txBody>
      </p:sp>
      <p:sp>
        <p:nvSpPr>
          <p:cNvPr id="6" name="Slide Number Placeholder 5">
            <a:extLst>
              <a:ext uri="{FF2B5EF4-FFF2-40B4-BE49-F238E27FC236}">
                <a16:creationId xmlns:a16="http://schemas.microsoft.com/office/drawing/2014/main" id="{98358DA5-1CD0-6523-CC09-48C59FC421E9}"/>
              </a:ext>
            </a:extLst>
          </p:cNvPr>
          <p:cNvSpPr>
            <a:spLocks noGrp="1"/>
          </p:cNvSpPr>
          <p:nvPr>
            <p:ph type="sldNum" sz="quarter" idx="12"/>
          </p:nvPr>
        </p:nvSpPr>
        <p:spPr/>
        <p:txBody>
          <a:bodyPr/>
          <a:lstStyle/>
          <a:p>
            <a:fld id="{F4FD428E-0A98-4D0E-8808-F32CC50EFAE5}" type="slidenum">
              <a:rPr lang="en-US" smtClean="0"/>
              <a:t>‹#›</a:t>
            </a:fld>
            <a:endParaRPr lang="en-US"/>
          </a:p>
        </p:txBody>
      </p:sp>
      <p:pic>
        <p:nvPicPr>
          <p:cNvPr id="9" name="Image 1">
            <a:extLst>
              <a:ext uri="{FF2B5EF4-FFF2-40B4-BE49-F238E27FC236}">
                <a16:creationId xmlns:a16="http://schemas.microsoft.com/office/drawing/2014/main" id="{DCBFC018-0CC9-106F-57BE-19C3E05A472E}"/>
              </a:ext>
            </a:extLst>
          </p:cNvPr>
          <p:cNvPicPr/>
          <p:nvPr userDrawn="1"/>
        </p:nvPicPr>
        <p:blipFill>
          <a:blip r:embed="rId2" cstate="print"/>
          <a:stretch>
            <a:fillRect/>
          </a:stretch>
        </p:blipFill>
        <p:spPr>
          <a:xfrm>
            <a:off x="457200" y="274968"/>
            <a:ext cx="10896600" cy="1510640"/>
          </a:xfrm>
          <a:prstGeom prst="rect">
            <a:avLst/>
          </a:prstGeom>
        </p:spPr>
      </p:pic>
      <p:sp>
        <p:nvSpPr>
          <p:cNvPr id="10" name="Title 2">
            <a:extLst>
              <a:ext uri="{FF2B5EF4-FFF2-40B4-BE49-F238E27FC236}">
                <a16:creationId xmlns:a16="http://schemas.microsoft.com/office/drawing/2014/main" id="{955E836D-FD71-DD1F-7044-486CE0972D1E}"/>
              </a:ext>
            </a:extLst>
          </p:cNvPr>
          <p:cNvSpPr txBox="1">
            <a:spLocks/>
          </p:cNvSpPr>
          <p:nvPr userDrawn="1"/>
        </p:nvSpPr>
        <p:spPr>
          <a:xfrm>
            <a:off x="1126668" y="1460124"/>
            <a:ext cx="9938663" cy="9074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IN" sz="2800" b="1" dirty="0">
                <a:solidFill>
                  <a:schemeClr val="accent4">
                    <a:lumMod val="75000"/>
                  </a:schemeClr>
                </a:solidFill>
                <a:latin typeface="Lucida Bright" panose="02040602050505020304" pitchFamily="18" charset="0"/>
              </a:rPr>
              <a:t>Department of Artificial Intelligence and Data Science</a:t>
            </a:r>
          </a:p>
        </p:txBody>
      </p:sp>
      <p:sp>
        <p:nvSpPr>
          <p:cNvPr id="12" name="Title 1">
            <a:extLst>
              <a:ext uri="{FF2B5EF4-FFF2-40B4-BE49-F238E27FC236}">
                <a16:creationId xmlns:a16="http://schemas.microsoft.com/office/drawing/2014/main" id="{66A25BE1-9306-A037-1F81-9CCA99E01121}"/>
              </a:ext>
            </a:extLst>
          </p:cNvPr>
          <p:cNvSpPr txBox="1">
            <a:spLocks/>
          </p:cNvSpPr>
          <p:nvPr userDrawn="1"/>
        </p:nvSpPr>
        <p:spPr>
          <a:xfrm>
            <a:off x="1454989" y="2432639"/>
            <a:ext cx="9144000" cy="62580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accent1">
                    <a:lumMod val="50000"/>
                  </a:schemeClr>
                </a:solidFill>
                <a:latin typeface="Times New Roman" panose="02020603050405020304" pitchFamily="18" charset="0"/>
                <a:ea typeface="+mj-ea"/>
                <a:cs typeface="Times New Roman" panose="02020603050405020304" pitchFamily="18" charset="0"/>
              </a:defRPr>
            </a:lvl1pPr>
          </a:lstStyle>
          <a:p>
            <a:endParaRPr lang="en-US" dirty="0"/>
          </a:p>
        </p:txBody>
      </p:sp>
    </p:spTree>
    <p:extLst>
      <p:ext uri="{BB962C8B-B14F-4D97-AF65-F5344CB8AC3E}">
        <p14:creationId xmlns:p14="http://schemas.microsoft.com/office/powerpoint/2010/main" val="2246139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B2402-2840-8FD5-C492-C0452F6B2EA3}"/>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2F935268-7814-7BCC-7E33-6948E81800E0}"/>
              </a:ext>
            </a:extLst>
          </p:cNvPr>
          <p:cNvSpPr>
            <a:spLocks noGrp="1"/>
          </p:cNvSpPr>
          <p:nvPr>
            <p:ph type="dt" sz="half" idx="10"/>
          </p:nvPr>
        </p:nvSpPr>
        <p:spPr/>
        <p:txBody>
          <a:bodyPr/>
          <a:lstStyle/>
          <a:p>
            <a:fld id="{44808F4C-7A18-497D-8ABE-09253DD29F08}" type="datetime1">
              <a:rPr lang="en-US" smtClean="0"/>
              <a:t>7/22/2025</a:t>
            </a:fld>
            <a:endParaRPr lang="en-US"/>
          </a:p>
        </p:txBody>
      </p:sp>
      <p:sp>
        <p:nvSpPr>
          <p:cNvPr id="4" name="Footer Placeholder 3">
            <a:extLst>
              <a:ext uri="{FF2B5EF4-FFF2-40B4-BE49-F238E27FC236}">
                <a16:creationId xmlns:a16="http://schemas.microsoft.com/office/drawing/2014/main" id="{E018C4E2-579A-CCE2-1192-60262178FB19}"/>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7BC5609F-B2E2-ADAC-6FB4-CB329EF601D9}"/>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299367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9409-A497-1A77-4A52-40CA9F05D4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88A058-3C12-8224-F699-3E46E3AF69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70D51-5615-29BB-3A72-97A76FE79FCF}"/>
              </a:ext>
            </a:extLst>
          </p:cNvPr>
          <p:cNvSpPr>
            <a:spLocks noGrp="1"/>
          </p:cNvSpPr>
          <p:nvPr>
            <p:ph type="dt" sz="half" idx="10"/>
          </p:nvPr>
        </p:nvSpPr>
        <p:spPr/>
        <p:txBody>
          <a:bodyPr/>
          <a:lstStyle/>
          <a:p>
            <a:fld id="{B9B3536E-6D42-42F9-8867-7CBF1DF3DB53}" type="datetime1">
              <a:rPr lang="en-US" smtClean="0"/>
              <a:t>7/22/2025</a:t>
            </a:fld>
            <a:endParaRPr lang="en-US"/>
          </a:p>
        </p:txBody>
      </p:sp>
      <p:sp>
        <p:nvSpPr>
          <p:cNvPr id="5" name="Footer Placeholder 4">
            <a:extLst>
              <a:ext uri="{FF2B5EF4-FFF2-40B4-BE49-F238E27FC236}">
                <a16:creationId xmlns:a16="http://schemas.microsoft.com/office/drawing/2014/main" id="{6355E011-CEB3-5798-93CD-2D640DF9E081}"/>
              </a:ext>
            </a:extLst>
          </p:cNvPr>
          <p:cNvSpPr>
            <a:spLocks noGrp="1"/>
          </p:cNvSpPr>
          <p:nvPr>
            <p:ph type="ftr" sz="quarter" idx="11"/>
          </p:nvPr>
        </p:nvSpPr>
        <p:spPr/>
        <p:txBody>
          <a:bodyPr/>
          <a:lstStyle/>
          <a:p>
            <a:r>
              <a:rPr lang="en-US"/>
              <a:t>Department of AI &amp; DS</a:t>
            </a:r>
          </a:p>
        </p:txBody>
      </p:sp>
      <p:sp>
        <p:nvSpPr>
          <p:cNvPr id="6" name="Slide Number Placeholder 5">
            <a:extLst>
              <a:ext uri="{FF2B5EF4-FFF2-40B4-BE49-F238E27FC236}">
                <a16:creationId xmlns:a16="http://schemas.microsoft.com/office/drawing/2014/main" id="{13D64119-3F50-85B2-414A-12682F1F91E4}"/>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2961850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D8A70-742B-B312-566C-A8B8F45015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9767E8-F1DA-83E8-F258-5A2BC55A3E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1BC2E5-DF35-12A0-12BD-1FF6EE083686}"/>
              </a:ext>
            </a:extLst>
          </p:cNvPr>
          <p:cNvSpPr>
            <a:spLocks noGrp="1"/>
          </p:cNvSpPr>
          <p:nvPr>
            <p:ph type="dt" sz="half" idx="10"/>
          </p:nvPr>
        </p:nvSpPr>
        <p:spPr/>
        <p:txBody>
          <a:bodyPr/>
          <a:lstStyle/>
          <a:p>
            <a:fld id="{15577FFC-4D90-4102-9F19-0FC75913ECB5}" type="datetime1">
              <a:rPr lang="en-US" smtClean="0"/>
              <a:t>7/22/2025</a:t>
            </a:fld>
            <a:endParaRPr lang="en-US"/>
          </a:p>
        </p:txBody>
      </p:sp>
      <p:sp>
        <p:nvSpPr>
          <p:cNvPr id="5" name="Footer Placeholder 4">
            <a:extLst>
              <a:ext uri="{FF2B5EF4-FFF2-40B4-BE49-F238E27FC236}">
                <a16:creationId xmlns:a16="http://schemas.microsoft.com/office/drawing/2014/main" id="{597AB700-5056-B68C-2B25-3C6B001EA251}"/>
              </a:ext>
            </a:extLst>
          </p:cNvPr>
          <p:cNvSpPr>
            <a:spLocks noGrp="1"/>
          </p:cNvSpPr>
          <p:nvPr>
            <p:ph type="ftr" sz="quarter" idx="11"/>
          </p:nvPr>
        </p:nvSpPr>
        <p:spPr/>
        <p:txBody>
          <a:bodyPr/>
          <a:lstStyle/>
          <a:p>
            <a:r>
              <a:rPr lang="en-US"/>
              <a:t>Department of AI &amp; DS</a:t>
            </a:r>
          </a:p>
        </p:txBody>
      </p:sp>
      <p:sp>
        <p:nvSpPr>
          <p:cNvPr id="6" name="Slide Number Placeholder 5">
            <a:extLst>
              <a:ext uri="{FF2B5EF4-FFF2-40B4-BE49-F238E27FC236}">
                <a16:creationId xmlns:a16="http://schemas.microsoft.com/office/drawing/2014/main" id="{5CD64639-3250-E001-CE85-54A86C122DE4}"/>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150436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A5EE6-D5DF-125D-47D2-C17B1E6497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10A10C-DF9E-67C4-03EB-BA5D590D75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5BEEE5-84D3-DBA2-10C5-DF9D1FAB55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669101-348C-E4A6-A32A-792ECE2FA315}"/>
              </a:ext>
            </a:extLst>
          </p:cNvPr>
          <p:cNvSpPr>
            <a:spLocks noGrp="1"/>
          </p:cNvSpPr>
          <p:nvPr>
            <p:ph type="dt" sz="half" idx="10"/>
          </p:nvPr>
        </p:nvSpPr>
        <p:spPr/>
        <p:txBody>
          <a:bodyPr/>
          <a:lstStyle/>
          <a:p>
            <a:fld id="{6BDDC560-693C-4040-8B9C-4F4FC7C24656}" type="datetime1">
              <a:rPr lang="en-US" smtClean="0"/>
              <a:t>7/22/2025</a:t>
            </a:fld>
            <a:endParaRPr lang="en-US"/>
          </a:p>
        </p:txBody>
      </p:sp>
      <p:sp>
        <p:nvSpPr>
          <p:cNvPr id="6" name="Footer Placeholder 5">
            <a:extLst>
              <a:ext uri="{FF2B5EF4-FFF2-40B4-BE49-F238E27FC236}">
                <a16:creationId xmlns:a16="http://schemas.microsoft.com/office/drawing/2014/main" id="{BDCE8D85-E54F-2694-63F8-6D3EE57FCB94}"/>
              </a:ext>
            </a:extLst>
          </p:cNvPr>
          <p:cNvSpPr>
            <a:spLocks noGrp="1"/>
          </p:cNvSpPr>
          <p:nvPr>
            <p:ph type="ftr" sz="quarter" idx="11"/>
          </p:nvPr>
        </p:nvSpPr>
        <p:spPr/>
        <p:txBody>
          <a:bodyPr/>
          <a:lstStyle/>
          <a:p>
            <a:r>
              <a:rPr lang="en-US"/>
              <a:t>Department of AI &amp; DS</a:t>
            </a:r>
          </a:p>
        </p:txBody>
      </p:sp>
      <p:sp>
        <p:nvSpPr>
          <p:cNvPr id="7" name="Slide Number Placeholder 6">
            <a:extLst>
              <a:ext uri="{FF2B5EF4-FFF2-40B4-BE49-F238E27FC236}">
                <a16:creationId xmlns:a16="http://schemas.microsoft.com/office/drawing/2014/main" id="{BB1F3EE3-85DC-E898-ABBF-63B7E1FCB7DB}"/>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157807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B2D5D-FCBF-E93B-7E28-FE192CC0A4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795C16-8EE8-9832-C34B-D3ADDD918B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0ACDE6-651C-F74D-418B-474C1EC240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3D533C-649A-6159-D81A-F29EA2CF76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E7207F-FF7B-CF09-4303-05387CDC4E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175B76-BEAC-3EEE-4098-662F76B94D7A}"/>
              </a:ext>
            </a:extLst>
          </p:cNvPr>
          <p:cNvSpPr>
            <a:spLocks noGrp="1"/>
          </p:cNvSpPr>
          <p:nvPr>
            <p:ph type="dt" sz="half" idx="10"/>
          </p:nvPr>
        </p:nvSpPr>
        <p:spPr/>
        <p:txBody>
          <a:bodyPr/>
          <a:lstStyle/>
          <a:p>
            <a:fld id="{CE1A8F23-AAA4-4E1D-96FB-9512CAF558B3}" type="datetime1">
              <a:rPr lang="en-US" smtClean="0"/>
              <a:t>7/22/2025</a:t>
            </a:fld>
            <a:endParaRPr lang="en-US"/>
          </a:p>
        </p:txBody>
      </p:sp>
      <p:sp>
        <p:nvSpPr>
          <p:cNvPr id="8" name="Footer Placeholder 7">
            <a:extLst>
              <a:ext uri="{FF2B5EF4-FFF2-40B4-BE49-F238E27FC236}">
                <a16:creationId xmlns:a16="http://schemas.microsoft.com/office/drawing/2014/main" id="{6B6A29EC-ECCA-C122-F9F5-3B4C14A50423}"/>
              </a:ext>
            </a:extLst>
          </p:cNvPr>
          <p:cNvSpPr>
            <a:spLocks noGrp="1"/>
          </p:cNvSpPr>
          <p:nvPr>
            <p:ph type="ftr" sz="quarter" idx="11"/>
          </p:nvPr>
        </p:nvSpPr>
        <p:spPr/>
        <p:txBody>
          <a:bodyPr/>
          <a:lstStyle/>
          <a:p>
            <a:r>
              <a:rPr lang="en-US"/>
              <a:t>Department of AI &amp; DS</a:t>
            </a:r>
          </a:p>
        </p:txBody>
      </p:sp>
      <p:sp>
        <p:nvSpPr>
          <p:cNvPr id="9" name="Slide Number Placeholder 8">
            <a:extLst>
              <a:ext uri="{FF2B5EF4-FFF2-40B4-BE49-F238E27FC236}">
                <a16:creationId xmlns:a16="http://schemas.microsoft.com/office/drawing/2014/main" id="{34C447AA-801A-1E9D-6DD5-2973DD3672A9}"/>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3124797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FC257-9F85-4591-E831-EC185C5532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CD0CB8-7C65-DFC4-E0FF-1111CEF61736}"/>
              </a:ext>
            </a:extLst>
          </p:cNvPr>
          <p:cNvSpPr>
            <a:spLocks noGrp="1"/>
          </p:cNvSpPr>
          <p:nvPr>
            <p:ph type="dt" sz="half" idx="10"/>
          </p:nvPr>
        </p:nvSpPr>
        <p:spPr/>
        <p:txBody>
          <a:bodyPr/>
          <a:lstStyle/>
          <a:p>
            <a:fld id="{9C2D93FF-3CEE-4A89-83E0-A75F67F2B5B4}" type="datetime1">
              <a:rPr lang="en-US" smtClean="0"/>
              <a:t>7/22/2025</a:t>
            </a:fld>
            <a:endParaRPr lang="en-US"/>
          </a:p>
        </p:txBody>
      </p:sp>
      <p:sp>
        <p:nvSpPr>
          <p:cNvPr id="4" name="Footer Placeholder 3">
            <a:extLst>
              <a:ext uri="{FF2B5EF4-FFF2-40B4-BE49-F238E27FC236}">
                <a16:creationId xmlns:a16="http://schemas.microsoft.com/office/drawing/2014/main" id="{5FE4359A-BB80-5D40-E63B-5101AE82C55E}"/>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FDE2C9F5-5719-0BC6-3A95-4D95C8EB1203}"/>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73328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2DD8A0-F057-73DC-65BE-A11EC7171F49}"/>
              </a:ext>
            </a:extLst>
          </p:cNvPr>
          <p:cNvSpPr>
            <a:spLocks noGrp="1"/>
          </p:cNvSpPr>
          <p:nvPr>
            <p:ph type="dt" sz="half" idx="10"/>
          </p:nvPr>
        </p:nvSpPr>
        <p:spPr/>
        <p:txBody>
          <a:bodyPr/>
          <a:lstStyle/>
          <a:p>
            <a:fld id="{37C7CEB7-7334-4894-A800-AC33320D8861}" type="datetime1">
              <a:rPr lang="en-US" smtClean="0"/>
              <a:t>7/22/2025</a:t>
            </a:fld>
            <a:endParaRPr lang="en-US"/>
          </a:p>
        </p:txBody>
      </p:sp>
      <p:sp>
        <p:nvSpPr>
          <p:cNvPr id="3" name="Footer Placeholder 2">
            <a:extLst>
              <a:ext uri="{FF2B5EF4-FFF2-40B4-BE49-F238E27FC236}">
                <a16:creationId xmlns:a16="http://schemas.microsoft.com/office/drawing/2014/main" id="{C38D7CBE-A367-5011-23AE-8A2C5AA6F625}"/>
              </a:ext>
            </a:extLst>
          </p:cNvPr>
          <p:cNvSpPr>
            <a:spLocks noGrp="1"/>
          </p:cNvSpPr>
          <p:nvPr>
            <p:ph type="ftr" sz="quarter" idx="11"/>
          </p:nvPr>
        </p:nvSpPr>
        <p:spPr/>
        <p:txBody>
          <a:bodyPr/>
          <a:lstStyle/>
          <a:p>
            <a:r>
              <a:rPr lang="en-US"/>
              <a:t>Department of AI &amp; DS</a:t>
            </a:r>
          </a:p>
        </p:txBody>
      </p:sp>
      <p:sp>
        <p:nvSpPr>
          <p:cNvPr id="4" name="Slide Number Placeholder 3">
            <a:extLst>
              <a:ext uri="{FF2B5EF4-FFF2-40B4-BE49-F238E27FC236}">
                <a16:creationId xmlns:a16="http://schemas.microsoft.com/office/drawing/2014/main" id="{4612D0B8-C45C-E61C-BED5-590333D0BB2E}"/>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535783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82DDB-B3AF-D093-A810-8F07D48B65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AE5A51-FDE8-FB76-E4D1-1A23EC7D69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A3AAE6-5809-367C-BE5A-04FA6DD790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88B92-B04E-E961-D017-E0B452535074}"/>
              </a:ext>
            </a:extLst>
          </p:cNvPr>
          <p:cNvSpPr>
            <a:spLocks noGrp="1"/>
          </p:cNvSpPr>
          <p:nvPr>
            <p:ph type="dt" sz="half" idx="10"/>
          </p:nvPr>
        </p:nvSpPr>
        <p:spPr/>
        <p:txBody>
          <a:bodyPr/>
          <a:lstStyle/>
          <a:p>
            <a:fld id="{CEF1A052-5C84-42D6-B021-419A5CBD28F0}" type="datetime1">
              <a:rPr lang="en-US" smtClean="0"/>
              <a:t>7/22/2025</a:t>
            </a:fld>
            <a:endParaRPr lang="en-US"/>
          </a:p>
        </p:txBody>
      </p:sp>
      <p:sp>
        <p:nvSpPr>
          <p:cNvPr id="6" name="Footer Placeholder 5">
            <a:extLst>
              <a:ext uri="{FF2B5EF4-FFF2-40B4-BE49-F238E27FC236}">
                <a16:creationId xmlns:a16="http://schemas.microsoft.com/office/drawing/2014/main" id="{B6ACA031-C918-B2CE-2B0E-7E38C5F68667}"/>
              </a:ext>
            </a:extLst>
          </p:cNvPr>
          <p:cNvSpPr>
            <a:spLocks noGrp="1"/>
          </p:cNvSpPr>
          <p:nvPr>
            <p:ph type="ftr" sz="quarter" idx="11"/>
          </p:nvPr>
        </p:nvSpPr>
        <p:spPr/>
        <p:txBody>
          <a:bodyPr/>
          <a:lstStyle/>
          <a:p>
            <a:r>
              <a:rPr lang="en-US"/>
              <a:t>Department of AI &amp; DS</a:t>
            </a:r>
          </a:p>
        </p:txBody>
      </p:sp>
      <p:sp>
        <p:nvSpPr>
          <p:cNvPr id="7" name="Slide Number Placeholder 6">
            <a:extLst>
              <a:ext uri="{FF2B5EF4-FFF2-40B4-BE49-F238E27FC236}">
                <a16:creationId xmlns:a16="http://schemas.microsoft.com/office/drawing/2014/main" id="{FD54D07D-0EC5-6115-030B-696C1081706A}"/>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3749196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9B6E4-72AA-A233-5E43-B617522CEA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99DDD3-8BA8-CC65-EF9A-4B80114278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01FC01-549E-70D0-8E3C-AEF86DCF52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071113-D8DE-6511-B3BA-2243AE24ACF6}"/>
              </a:ext>
            </a:extLst>
          </p:cNvPr>
          <p:cNvSpPr>
            <a:spLocks noGrp="1"/>
          </p:cNvSpPr>
          <p:nvPr>
            <p:ph type="dt" sz="half" idx="10"/>
          </p:nvPr>
        </p:nvSpPr>
        <p:spPr/>
        <p:txBody>
          <a:bodyPr/>
          <a:lstStyle/>
          <a:p>
            <a:fld id="{932D0F9E-4A51-421A-AFCA-F8011D706036}" type="datetime1">
              <a:rPr lang="en-US" smtClean="0"/>
              <a:t>7/22/2025</a:t>
            </a:fld>
            <a:endParaRPr lang="en-US"/>
          </a:p>
        </p:txBody>
      </p:sp>
      <p:sp>
        <p:nvSpPr>
          <p:cNvPr id="6" name="Footer Placeholder 5">
            <a:extLst>
              <a:ext uri="{FF2B5EF4-FFF2-40B4-BE49-F238E27FC236}">
                <a16:creationId xmlns:a16="http://schemas.microsoft.com/office/drawing/2014/main" id="{808BC11C-3C58-A6F4-9C62-312EFE2712CB}"/>
              </a:ext>
            </a:extLst>
          </p:cNvPr>
          <p:cNvSpPr>
            <a:spLocks noGrp="1"/>
          </p:cNvSpPr>
          <p:nvPr>
            <p:ph type="ftr" sz="quarter" idx="11"/>
          </p:nvPr>
        </p:nvSpPr>
        <p:spPr/>
        <p:txBody>
          <a:bodyPr/>
          <a:lstStyle/>
          <a:p>
            <a:r>
              <a:rPr lang="en-US"/>
              <a:t>Department of AI &amp; DS</a:t>
            </a:r>
          </a:p>
        </p:txBody>
      </p:sp>
      <p:sp>
        <p:nvSpPr>
          <p:cNvPr id="7" name="Slide Number Placeholder 6">
            <a:extLst>
              <a:ext uri="{FF2B5EF4-FFF2-40B4-BE49-F238E27FC236}">
                <a16:creationId xmlns:a16="http://schemas.microsoft.com/office/drawing/2014/main" id="{832F3EEA-BC14-2B8C-6106-65AC4B939C1F}"/>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4155856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FB9D2-94F9-B89E-C960-5E8389885E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36A331-EE3E-48C2-8CFD-3CDA556F4B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272B32-2CD5-128B-18D7-C6D112E3F872}"/>
              </a:ext>
            </a:extLst>
          </p:cNvPr>
          <p:cNvSpPr>
            <a:spLocks noGrp="1"/>
          </p:cNvSpPr>
          <p:nvPr>
            <p:ph type="dt" sz="half" idx="10"/>
          </p:nvPr>
        </p:nvSpPr>
        <p:spPr/>
        <p:txBody>
          <a:bodyPr/>
          <a:lstStyle/>
          <a:p>
            <a:fld id="{6D2193DD-EC77-444F-AECE-18B735539E21}" type="datetime1">
              <a:rPr lang="en-US" smtClean="0"/>
              <a:t>7/22/2025</a:t>
            </a:fld>
            <a:endParaRPr lang="en-US"/>
          </a:p>
        </p:txBody>
      </p:sp>
      <p:sp>
        <p:nvSpPr>
          <p:cNvPr id="5" name="Footer Placeholder 4">
            <a:extLst>
              <a:ext uri="{FF2B5EF4-FFF2-40B4-BE49-F238E27FC236}">
                <a16:creationId xmlns:a16="http://schemas.microsoft.com/office/drawing/2014/main" id="{0D82A92F-5051-39B4-9DAD-DF931C9F48B2}"/>
              </a:ext>
            </a:extLst>
          </p:cNvPr>
          <p:cNvSpPr>
            <a:spLocks noGrp="1"/>
          </p:cNvSpPr>
          <p:nvPr>
            <p:ph type="ftr" sz="quarter" idx="11"/>
          </p:nvPr>
        </p:nvSpPr>
        <p:spPr/>
        <p:txBody>
          <a:bodyPr/>
          <a:lstStyle/>
          <a:p>
            <a:r>
              <a:rPr lang="en-US"/>
              <a:t>Department of AI &amp; DS</a:t>
            </a:r>
          </a:p>
        </p:txBody>
      </p:sp>
      <p:sp>
        <p:nvSpPr>
          <p:cNvPr id="6" name="Slide Number Placeholder 5">
            <a:extLst>
              <a:ext uri="{FF2B5EF4-FFF2-40B4-BE49-F238E27FC236}">
                <a16:creationId xmlns:a16="http://schemas.microsoft.com/office/drawing/2014/main" id="{D5A66F87-DDFE-F3CC-5B62-93537DF99B10}"/>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4265964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FD402B-AB5D-772A-9A85-6DA8EAB9C1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35DED1-4492-D8A5-7B32-40F4A19CF8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DBA6F3-17DE-B6E3-EBA1-21C7AF8EE2CC}"/>
              </a:ext>
            </a:extLst>
          </p:cNvPr>
          <p:cNvSpPr>
            <a:spLocks noGrp="1"/>
          </p:cNvSpPr>
          <p:nvPr>
            <p:ph type="dt" sz="half" idx="10"/>
          </p:nvPr>
        </p:nvSpPr>
        <p:spPr/>
        <p:txBody>
          <a:bodyPr/>
          <a:lstStyle/>
          <a:p>
            <a:fld id="{37A8DF4E-A63E-483E-877F-73A61D18A80C}" type="datetime1">
              <a:rPr lang="en-US" smtClean="0"/>
              <a:t>7/22/2025</a:t>
            </a:fld>
            <a:endParaRPr lang="en-US"/>
          </a:p>
        </p:txBody>
      </p:sp>
      <p:sp>
        <p:nvSpPr>
          <p:cNvPr id="5" name="Footer Placeholder 4">
            <a:extLst>
              <a:ext uri="{FF2B5EF4-FFF2-40B4-BE49-F238E27FC236}">
                <a16:creationId xmlns:a16="http://schemas.microsoft.com/office/drawing/2014/main" id="{B102BB5B-FC09-2F70-1F69-79AB4F1B1141}"/>
              </a:ext>
            </a:extLst>
          </p:cNvPr>
          <p:cNvSpPr>
            <a:spLocks noGrp="1"/>
          </p:cNvSpPr>
          <p:nvPr>
            <p:ph type="ftr" sz="quarter" idx="11"/>
          </p:nvPr>
        </p:nvSpPr>
        <p:spPr/>
        <p:txBody>
          <a:bodyPr/>
          <a:lstStyle/>
          <a:p>
            <a:r>
              <a:rPr lang="en-US"/>
              <a:t>Department of AI &amp; DS</a:t>
            </a:r>
          </a:p>
        </p:txBody>
      </p:sp>
      <p:sp>
        <p:nvSpPr>
          <p:cNvPr id="6" name="Slide Number Placeholder 5">
            <a:extLst>
              <a:ext uri="{FF2B5EF4-FFF2-40B4-BE49-F238E27FC236}">
                <a16:creationId xmlns:a16="http://schemas.microsoft.com/office/drawing/2014/main" id="{0586B8DE-7E79-4B07-141D-B5ADA5D08ED8}"/>
              </a:ext>
            </a:extLst>
          </p:cNvPr>
          <p:cNvSpPr>
            <a:spLocks noGrp="1"/>
          </p:cNvSpPr>
          <p:nvPr>
            <p:ph type="sldNum" sz="quarter" idx="12"/>
          </p:nvPr>
        </p:nvSpPr>
        <p:spPr/>
        <p:txBody>
          <a:bodyPr/>
          <a:lstStyle/>
          <a:p>
            <a:fld id="{F4FD428E-0A98-4D0E-8808-F32CC50EFAE5}" type="slidenum">
              <a:rPr lang="en-US" smtClean="0"/>
              <a:t>‹#›</a:t>
            </a:fld>
            <a:endParaRPr lang="en-US"/>
          </a:p>
        </p:txBody>
      </p:sp>
    </p:spTree>
    <p:extLst>
      <p:ext uri="{BB962C8B-B14F-4D97-AF65-F5344CB8AC3E}">
        <p14:creationId xmlns:p14="http://schemas.microsoft.com/office/powerpoint/2010/main" val="3715697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E73636-6191-4CFA-0B58-E861F56485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D24ADD-C62D-C11E-FA59-6CCC3919B3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70CD15-35BA-1AB3-16DB-8AFE15D440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32A951-B553-49B4-9563-B574A8C82774}" type="datetime1">
              <a:rPr lang="en-US" smtClean="0"/>
              <a:t>7/22/2025</a:t>
            </a:fld>
            <a:endParaRPr lang="en-US"/>
          </a:p>
        </p:txBody>
      </p:sp>
      <p:sp>
        <p:nvSpPr>
          <p:cNvPr id="5" name="Footer Placeholder 4">
            <a:extLst>
              <a:ext uri="{FF2B5EF4-FFF2-40B4-BE49-F238E27FC236}">
                <a16:creationId xmlns:a16="http://schemas.microsoft.com/office/drawing/2014/main" id="{DEEBCB2E-9DC4-EBFA-3C1B-6D4EB17CC2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AI &amp; DS</a:t>
            </a:r>
          </a:p>
        </p:txBody>
      </p:sp>
      <p:sp>
        <p:nvSpPr>
          <p:cNvPr id="6" name="Slide Number Placeholder 5">
            <a:extLst>
              <a:ext uri="{FF2B5EF4-FFF2-40B4-BE49-F238E27FC236}">
                <a16:creationId xmlns:a16="http://schemas.microsoft.com/office/drawing/2014/main" id="{D7AA37A3-126E-62CF-F9FA-5666C0FC96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FD428E-0A98-4D0E-8808-F32CC50EFAE5}" type="slidenum">
              <a:rPr lang="en-US" smtClean="0"/>
              <a:t>‹#›</a:t>
            </a:fld>
            <a:endParaRPr lang="en-US"/>
          </a:p>
        </p:txBody>
      </p:sp>
    </p:spTree>
    <p:extLst>
      <p:ext uri="{BB962C8B-B14F-4D97-AF65-F5344CB8AC3E}">
        <p14:creationId xmlns:p14="http://schemas.microsoft.com/office/powerpoint/2010/main" val="158223260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C409A-82F8-B2A1-842F-4444F672FC5D}"/>
              </a:ext>
            </a:extLst>
          </p:cNvPr>
          <p:cNvSpPr>
            <a:spLocks noGrp="1"/>
          </p:cNvSpPr>
          <p:nvPr>
            <p:ph type="ctrTitle"/>
          </p:nvPr>
        </p:nvSpPr>
        <p:spPr>
          <a:xfrm>
            <a:off x="1277112" y="2517753"/>
            <a:ext cx="9144000" cy="1129370"/>
          </a:xfrm>
        </p:spPr>
        <p:txBody>
          <a:bodyPr>
            <a:normAutofit fontScale="90000"/>
          </a:bodyPr>
          <a:lstStyle/>
          <a:p>
            <a:br>
              <a:rPr lang="en-US" dirty="0"/>
            </a:br>
            <a:r>
              <a:rPr lang="en-US" b="0" i="0" dirty="0">
                <a:effectLst/>
                <a:latin typeface="fkGroteskNeue"/>
              </a:rPr>
              <a:t>Voice-Based Sentiment and Context Analysis System for Call Center Performance and Trend Monitoring</a:t>
            </a:r>
            <a:endParaRPr lang="en-US" dirty="0"/>
          </a:p>
        </p:txBody>
      </p:sp>
      <p:sp>
        <p:nvSpPr>
          <p:cNvPr id="3" name="Subtitle 2">
            <a:extLst>
              <a:ext uri="{FF2B5EF4-FFF2-40B4-BE49-F238E27FC236}">
                <a16:creationId xmlns:a16="http://schemas.microsoft.com/office/drawing/2014/main" id="{2093C037-7523-9768-0CCB-AC408DD43A17}"/>
              </a:ext>
            </a:extLst>
          </p:cNvPr>
          <p:cNvSpPr>
            <a:spLocks noGrp="1"/>
          </p:cNvSpPr>
          <p:nvPr>
            <p:ph type="subTitle" idx="1"/>
          </p:nvPr>
        </p:nvSpPr>
        <p:spPr>
          <a:xfrm>
            <a:off x="694944" y="4026556"/>
            <a:ext cx="11329416" cy="2329794"/>
          </a:xfrm>
        </p:spPr>
        <p:txBody>
          <a:bodyPr>
            <a:normAutofit/>
          </a:bodyPr>
          <a:lstStyle/>
          <a:p>
            <a:r>
              <a:rPr lang="en-US" b="1" dirty="0"/>
              <a:t>Year/Sem/Sec: </a:t>
            </a:r>
            <a:r>
              <a:rPr lang="en-US" dirty="0"/>
              <a:t>IV/VII/A			</a:t>
            </a:r>
            <a:r>
              <a:rPr lang="en-US" b="1" dirty="0" err="1"/>
              <a:t>Batch_No</a:t>
            </a:r>
            <a:r>
              <a:rPr lang="en-US" b="1" dirty="0"/>
              <a:t>: </a:t>
            </a:r>
            <a:r>
              <a:rPr lang="en-US" dirty="0"/>
              <a:t>1</a:t>
            </a:r>
          </a:p>
          <a:p>
            <a:r>
              <a:rPr lang="en-US" b="1" dirty="0"/>
              <a:t>Team Members:</a:t>
            </a:r>
            <a:r>
              <a:rPr lang="en-US" dirty="0"/>
              <a:t>				</a:t>
            </a:r>
            <a:r>
              <a:rPr lang="en-US" b="1" dirty="0"/>
              <a:t>Guided By:</a:t>
            </a:r>
          </a:p>
          <a:p>
            <a:r>
              <a:rPr lang="en-US" dirty="0"/>
              <a:t>                                                  		Name of the Guide: </a:t>
            </a:r>
            <a:r>
              <a:rPr lang="en-IN" b="0" i="0" dirty="0" err="1">
                <a:effectLst/>
              </a:rPr>
              <a:t>Dr.</a:t>
            </a:r>
            <a:r>
              <a:rPr lang="en-IN" b="0" i="0" dirty="0">
                <a:effectLst/>
              </a:rPr>
              <a:t> J. </a:t>
            </a:r>
            <a:r>
              <a:rPr lang="en-IN" b="0" i="0" dirty="0" err="1">
                <a:effectLst/>
              </a:rPr>
              <a:t>Madhusudanan</a:t>
            </a:r>
            <a:endParaRPr lang="en-US" dirty="0"/>
          </a:p>
          <a:p>
            <a:r>
              <a:rPr lang="en-US" dirty="0"/>
              <a:t>                                                      	                Designation: </a:t>
            </a:r>
            <a:r>
              <a:rPr lang="en-US" b="0" i="0" dirty="0">
                <a:effectLst/>
              </a:rPr>
              <a:t>Professor &amp; Head of the Department, AI &amp; DS</a:t>
            </a:r>
          </a:p>
          <a:p>
            <a:r>
              <a:rPr lang="en-US" dirty="0">
                <a:latin typeface="fkGroteskNeue"/>
              </a:rPr>
              <a:t>                                                                                       </a:t>
            </a:r>
            <a:r>
              <a:rPr lang="en-US" dirty="0"/>
              <a:t>Name of the College: SMVEC</a:t>
            </a:r>
          </a:p>
          <a:p>
            <a:endParaRPr lang="en-US" dirty="0"/>
          </a:p>
        </p:txBody>
      </p:sp>
      <p:sp>
        <p:nvSpPr>
          <p:cNvPr id="4" name="Footer Placeholder 3">
            <a:extLst>
              <a:ext uri="{FF2B5EF4-FFF2-40B4-BE49-F238E27FC236}">
                <a16:creationId xmlns:a16="http://schemas.microsoft.com/office/drawing/2014/main" id="{16ADAB21-1474-B45B-BBF0-F8C50F391036}"/>
              </a:ext>
            </a:extLst>
          </p:cNvPr>
          <p:cNvSpPr>
            <a:spLocks noGrp="1"/>
          </p:cNvSpPr>
          <p:nvPr>
            <p:ph type="ftr" sz="quarter" idx="11"/>
          </p:nvPr>
        </p:nvSpPr>
        <p:spPr/>
        <p:txBody>
          <a:bodyPr/>
          <a:lstStyle/>
          <a:p>
            <a:r>
              <a:rPr lang="en-US" dirty="0"/>
              <a:t>Department of Artificial Intelligence and Data Science</a:t>
            </a:r>
          </a:p>
        </p:txBody>
      </p:sp>
      <p:sp>
        <p:nvSpPr>
          <p:cNvPr id="5" name="Slide Number Placeholder 4">
            <a:extLst>
              <a:ext uri="{FF2B5EF4-FFF2-40B4-BE49-F238E27FC236}">
                <a16:creationId xmlns:a16="http://schemas.microsoft.com/office/drawing/2014/main" id="{F83FDBD7-5A84-4BD6-6DBB-A6693F12EB4A}"/>
              </a:ext>
            </a:extLst>
          </p:cNvPr>
          <p:cNvSpPr>
            <a:spLocks noGrp="1"/>
          </p:cNvSpPr>
          <p:nvPr>
            <p:ph type="sldNum" sz="quarter" idx="12"/>
          </p:nvPr>
        </p:nvSpPr>
        <p:spPr/>
        <p:txBody>
          <a:bodyPr/>
          <a:lstStyle/>
          <a:p>
            <a:fld id="{F4FD428E-0A98-4D0E-8808-F32CC50EFAE5}" type="slidenum">
              <a:rPr lang="en-US" smtClean="0"/>
              <a:t>1</a:t>
            </a:fld>
            <a:endParaRPr lang="en-US"/>
          </a:p>
        </p:txBody>
      </p:sp>
      <p:sp>
        <p:nvSpPr>
          <p:cNvPr id="6" name="TextBox 5">
            <a:extLst>
              <a:ext uri="{FF2B5EF4-FFF2-40B4-BE49-F238E27FC236}">
                <a16:creationId xmlns:a16="http://schemas.microsoft.com/office/drawing/2014/main" id="{BBE421D1-FD5E-DA5B-3EAF-161381FBC82F}"/>
              </a:ext>
            </a:extLst>
          </p:cNvPr>
          <p:cNvSpPr txBox="1"/>
          <p:nvPr/>
        </p:nvSpPr>
        <p:spPr>
          <a:xfrm>
            <a:off x="694944" y="4745736"/>
            <a:ext cx="3358896" cy="1477328"/>
          </a:xfrm>
          <a:prstGeom prst="rect">
            <a:avLst/>
          </a:prstGeom>
          <a:noFill/>
        </p:spPr>
        <p:txBody>
          <a:bodyPr wrap="square" rtlCol="0">
            <a:spAutoFit/>
          </a:bodyPr>
          <a:lstStyle/>
          <a:p>
            <a:pPr algn="l"/>
            <a:r>
              <a:rPr lang="en-IN" b="0" i="0" dirty="0">
                <a:effectLst/>
                <a:latin typeface="Times New Roman" panose="02020603050405020304" pitchFamily="18" charset="0"/>
                <a:cs typeface="Times New Roman" panose="02020603050405020304" pitchFamily="18" charset="0"/>
              </a:rPr>
              <a:t>Sam Daniel </a:t>
            </a:r>
            <a:r>
              <a:rPr lang="en-IN" b="0" i="0" dirty="0" err="1">
                <a:effectLst/>
                <a:latin typeface="Times New Roman" panose="02020603050405020304" pitchFamily="18" charset="0"/>
                <a:cs typeface="Times New Roman" panose="02020603050405020304" pitchFamily="18" charset="0"/>
              </a:rPr>
              <a:t>Vincy</a:t>
            </a:r>
            <a:r>
              <a:rPr lang="en-IN" b="0" i="0" dirty="0">
                <a:effectLst/>
                <a:latin typeface="Times New Roman" panose="02020603050405020304" pitchFamily="18" charset="0"/>
                <a:cs typeface="Times New Roman" panose="02020603050405020304" pitchFamily="18" charset="0"/>
              </a:rPr>
              <a:t>: 22UAI088</a:t>
            </a:r>
          </a:p>
          <a:p>
            <a:pPr algn="l"/>
            <a:r>
              <a:rPr lang="en-IN" b="0" i="0" dirty="0">
                <a:effectLst/>
                <a:latin typeface="Times New Roman" panose="02020603050405020304" pitchFamily="18" charset="0"/>
                <a:cs typeface="Times New Roman" panose="02020603050405020304" pitchFamily="18" charset="0"/>
              </a:rPr>
              <a:t>Sham Ganesh: 22UAI095</a:t>
            </a:r>
          </a:p>
          <a:p>
            <a:pPr algn="l"/>
            <a:r>
              <a:rPr lang="en-IN" b="0" i="0" dirty="0" err="1">
                <a:effectLst/>
                <a:latin typeface="Times New Roman" panose="02020603050405020304" pitchFamily="18" charset="0"/>
                <a:cs typeface="Times New Roman" panose="02020603050405020304" pitchFamily="18" charset="0"/>
              </a:rPr>
              <a:t>Kiruba</a:t>
            </a:r>
            <a:r>
              <a:rPr lang="en-IN" b="0" i="0" dirty="0">
                <a:effectLst/>
                <a:latin typeface="Times New Roman" panose="02020603050405020304" pitchFamily="18" charset="0"/>
                <a:cs typeface="Times New Roman" panose="02020603050405020304" pitchFamily="18" charset="0"/>
              </a:rPr>
              <a:t>: 22UAI055</a:t>
            </a:r>
          </a:p>
          <a:p>
            <a:pPr algn="l"/>
            <a:r>
              <a:rPr lang="en-IN" b="0" i="0" dirty="0">
                <a:effectLst/>
                <a:latin typeface="Times New Roman" panose="02020603050405020304" pitchFamily="18" charset="0"/>
                <a:cs typeface="Times New Roman" panose="02020603050405020304" pitchFamily="18" charset="0"/>
              </a:rPr>
              <a:t>Saravanan: 22UAI090</a:t>
            </a:r>
          </a:p>
          <a:p>
            <a:endParaRPr lang="en-IN" dirty="0"/>
          </a:p>
        </p:txBody>
      </p:sp>
    </p:spTree>
    <p:extLst>
      <p:ext uri="{BB962C8B-B14F-4D97-AF65-F5344CB8AC3E}">
        <p14:creationId xmlns:p14="http://schemas.microsoft.com/office/powerpoint/2010/main" val="2250843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23C1F-25D3-9291-A059-5CDB0A7BF247}"/>
              </a:ext>
            </a:extLst>
          </p:cNvPr>
          <p:cNvSpPr>
            <a:spLocks noGrp="1"/>
          </p:cNvSpPr>
          <p:nvPr>
            <p:ph type="title"/>
          </p:nvPr>
        </p:nvSpPr>
        <p:spPr/>
        <p:txBody>
          <a:bodyPr/>
          <a:lstStyle/>
          <a:p>
            <a:r>
              <a:rPr lang="en-US" sz="4000" b="1" dirty="0">
                <a:solidFill>
                  <a:srgbClr val="002060"/>
                </a:solidFill>
                <a:latin typeface="Times New Roman" panose="02020603050405020304" pitchFamily="18" charset="0"/>
                <a:ea typeface="+mn-ea"/>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4443B6B6-6D93-8E50-1657-B4D14A69A6E7}"/>
              </a:ext>
            </a:extLst>
          </p:cNvPr>
          <p:cNvSpPr>
            <a:spLocks noGrp="1"/>
          </p:cNvSpPr>
          <p:nvPr>
            <p:ph idx="1"/>
          </p:nvPr>
        </p:nvSpPr>
        <p:spPr>
          <a:xfrm>
            <a:off x="838200" y="1578737"/>
            <a:ext cx="10515600" cy="4351338"/>
          </a:xfrm>
        </p:spPr>
        <p:txBody>
          <a:bodyPr>
            <a:normAutofit/>
          </a:bodyPr>
          <a:lstStyle/>
          <a:p>
            <a:pPr algn="l">
              <a:buFont typeface="Arial" panose="020B0604020202020204" pitchFamily="34" charset="0"/>
              <a:buChar char="•"/>
            </a:pPr>
            <a:r>
              <a:rPr lang="en-US" sz="2400" b="1" i="0" dirty="0">
                <a:effectLst/>
                <a:latin typeface="Abadi Extra Light" panose="020B0604020202020204" pitchFamily="34" charset="0"/>
              </a:rPr>
              <a:t>Introduction and Motivation</a:t>
            </a:r>
          </a:p>
          <a:p>
            <a:pPr algn="l">
              <a:buFont typeface="Arial" panose="020B0604020202020204" pitchFamily="34" charset="0"/>
              <a:buChar char="•"/>
            </a:pPr>
            <a:r>
              <a:rPr lang="en-US" sz="2400" b="1" i="0" dirty="0">
                <a:effectLst/>
                <a:latin typeface="Abadi Extra Light" panose="020B0604020202020204" pitchFamily="34" charset="0"/>
              </a:rPr>
              <a:t>Domain Explanation</a:t>
            </a:r>
          </a:p>
          <a:p>
            <a:pPr algn="l">
              <a:buFont typeface="Arial" panose="020B0604020202020204" pitchFamily="34" charset="0"/>
              <a:buChar char="•"/>
            </a:pPr>
            <a:r>
              <a:rPr lang="en-US" sz="2400" b="1" i="0" dirty="0">
                <a:effectLst/>
                <a:latin typeface="Abadi Extra Light" panose="020B0604020202020204" pitchFamily="34" charset="0"/>
              </a:rPr>
              <a:t>Problem Statement and Scope</a:t>
            </a:r>
          </a:p>
          <a:p>
            <a:pPr algn="l">
              <a:buFont typeface="Arial" panose="020B0604020202020204" pitchFamily="34" charset="0"/>
              <a:buChar char="•"/>
            </a:pPr>
            <a:r>
              <a:rPr lang="en-US" sz="2400" b="1" i="0" dirty="0">
                <a:effectLst/>
                <a:latin typeface="Abadi Extra Light" panose="020B0604020202020204" pitchFamily="34" charset="0"/>
              </a:rPr>
              <a:t>Project Objective</a:t>
            </a:r>
          </a:p>
          <a:p>
            <a:pPr algn="l">
              <a:buFont typeface="Arial" panose="020B0604020202020204" pitchFamily="34" charset="0"/>
              <a:buChar char="•"/>
            </a:pPr>
            <a:r>
              <a:rPr lang="en-US" sz="2400" b="1" i="0" dirty="0">
                <a:effectLst/>
                <a:latin typeface="Abadi Extra Light" panose="020B0604020202020204" pitchFamily="34" charset="0"/>
              </a:rPr>
              <a:t>Review of Existing Systems</a:t>
            </a:r>
          </a:p>
          <a:p>
            <a:pPr algn="l">
              <a:buFont typeface="Arial" panose="020B0604020202020204" pitchFamily="34" charset="0"/>
              <a:buChar char="•"/>
            </a:pPr>
            <a:r>
              <a:rPr lang="en-US" sz="2400" b="1" i="0" dirty="0">
                <a:effectLst/>
                <a:latin typeface="Abadi Extra Light" panose="020B0604020202020204" pitchFamily="34" charset="0"/>
              </a:rPr>
              <a:t>Proposed Solution and Methods</a:t>
            </a:r>
          </a:p>
          <a:p>
            <a:pPr algn="l">
              <a:buFont typeface="Arial" panose="020B0604020202020204" pitchFamily="34" charset="0"/>
              <a:buChar char="•"/>
            </a:pPr>
            <a:r>
              <a:rPr lang="en-US" sz="2400" b="1" i="0" dirty="0">
                <a:effectLst/>
                <a:latin typeface="Abadi Extra Light" panose="020B0604020202020204" pitchFamily="34" charset="0"/>
              </a:rPr>
              <a:t>Literature Review</a:t>
            </a:r>
          </a:p>
          <a:p>
            <a:pPr algn="l">
              <a:buFont typeface="Arial" panose="020B0604020202020204" pitchFamily="34" charset="0"/>
              <a:buChar char="•"/>
            </a:pPr>
            <a:r>
              <a:rPr lang="en-US" sz="2400" b="1" i="0" dirty="0">
                <a:effectLst/>
                <a:latin typeface="Abadi Extra Light" panose="020B0604020202020204" pitchFamily="34" charset="0"/>
              </a:rPr>
              <a:t>Expected Outcomes and Conclusion</a:t>
            </a:r>
          </a:p>
          <a:p>
            <a:pPr algn="l">
              <a:buFont typeface="Arial" panose="020B0604020202020204" pitchFamily="34" charset="0"/>
              <a:buChar char="•"/>
            </a:pPr>
            <a:r>
              <a:rPr lang="en-US" sz="2400" b="1" i="0" dirty="0">
                <a:effectLst/>
                <a:latin typeface="Abadi Extra Light" panose="020B0604020202020204" pitchFamily="34" charset="0"/>
              </a:rPr>
              <a:t>References</a:t>
            </a:r>
          </a:p>
          <a:p>
            <a:endParaRPr lang="en-US" sz="3600" dirty="0">
              <a:latin typeface="Abadi Extra Light" panose="020B060402020202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2F0DF1D-B4EC-E1E4-F585-AD4B0A1F65D5}"/>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7C2465A5-B230-31FA-E44C-0CDAB816F534}"/>
              </a:ext>
            </a:extLst>
          </p:cNvPr>
          <p:cNvSpPr>
            <a:spLocks noGrp="1"/>
          </p:cNvSpPr>
          <p:nvPr>
            <p:ph type="sldNum" sz="quarter" idx="12"/>
          </p:nvPr>
        </p:nvSpPr>
        <p:spPr/>
        <p:txBody>
          <a:bodyPr/>
          <a:lstStyle/>
          <a:p>
            <a:fld id="{F4FD428E-0A98-4D0E-8808-F32CC50EFAE5}" type="slidenum">
              <a:rPr lang="en-US" smtClean="0"/>
              <a:t>2</a:t>
            </a:fld>
            <a:endParaRPr lang="en-US"/>
          </a:p>
        </p:txBody>
      </p:sp>
    </p:spTree>
    <p:extLst>
      <p:ext uri="{BB962C8B-B14F-4D97-AF65-F5344CB8AC3E}">
        <p14:creationId xmlns:p14="http://schemas.microsoft.com/office/powerpoint/2010/main" val="3702854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D096C-02BF-CADD-7BD5-625C7856A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4397B-CB6F-7BCA-FF25-FAB331EA9D7C}"/>
              </a:ext>
            </a:extLst>
          </p:cNvPr>
          <p:cNvSpPr>
            <a:spLocks noGrp="1"/>
          </p:cNvSpPr>
          <p:nvPr>
            <p:ph type="title"/>
          </p:nvPr>
        </p:nvSpPr>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Domain of the Project:</a:t>
            </a:r>
          </a:p>
        </p:txBody>
      </p:sp>
      <p:sp>
        <p:nvSpPr>
          <p:cNvPr id="4" name="Subtitle 3">
            <a:extLst>
              <a:ext uri="{FF2B5EF4-FFF2-40B4-BE49-F238E27FC236}">
                <a16:creationId xmlns:a16="http://schemas.microsoft.com/office/drawing/2014/main" id="{9B4E260A-2270-8DC9-2349-50B2AF8FD386}"/>
              </a:ext>
            </a:extLst>
          </p:cNvPr>
          <p:cNvSpPr>
            <a:spLocks noGrp="1"/>
          </p:cNvSpPr>
          <p:nvPr>
            <p:ph idx="1"/>
          </p:nvPr>
        </p:nvSpPr>
        <p:spPr/>
        <p:txBody>
          <a:bodyPr>
            <a:normAutofit/>
          </a:bodyPr>
          <a:lstStyle/>
          <a:p>
            <a:pPr algn="l"/>
            <a:r>
              <a:rPr lang="en-US" sz="2400" b="1" dirty="0">
                <a:latin typeface="Aharoni" panose="02010803020104030203" pitchFamily="2" charset="-79"/>
                <a:cs typeface="Aharoni" panose="02010803020104030203" pitchFamily="2" charset="-79"/>
              </a:rPr>
              <a:t>Domain</a:t>
            </a:r>
            <a:r>
              <a:rPr lang="en-US" sz="2400" b="1" dirty="0">
                <a:latin typeface="Abadi Extra Light" panose="020B0204020104020204" pitchFamily="34" charset="0"/>
              </a:rPr>
              <a:t>: </a:t>
            </a:r>
            <a:r>
              <a:rPr lang="en-US" sz="2400" b="1" i="0" dirty="0">
                <a:effectLst/>
                <a:latin typeface="Abadi Extra Light" panose="020B0204020104020204" pitchFamily="34" charset="0"/>
              </a:rPr>
              <a:t>Artificial Intelligence for Speech Analytics in Customer Service</a:t>
            </a:r>
            <a:endParaRPr lang="en-US" sz="2400" b="1" dirty="0">
              <a:latin typeface="Abadi Extra Light" panose="020B02040201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0EAB6B95-9BB3-5A19-E00C-9D4243A97913}"/>
              </a:ext>
            </a:extLst>
          </p:cNvPr>
          <p:cNvSpPr txBox="1">
            <a:spLocks/>
          </p:cNvSpPr>
          <p:nvPr/>
        </p:nvSpPr>
        <p:spPr>
          <a:xfrm>
            <a:off x="838200" y="2206053"/>
            <a:ext cx="9144000" cy="8893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Domain Explanation:</a:t>
            </a:r>
          </a:p>
        </p:txBody>
      </p:sp>
      <p:sp>
        <p:nvSpPr>
          <p:cNvPr id="5" name="Subtitle 3">
            <a:extLst>
              <a:ext uri="{FF2B5EF4-FFF2-40B4-BE49-F238E27FC236}">
                <a16:creationId xmlns:a16="http://schemas.microsoft.com/office/drawing/2014/main" id="{F9D8C46C-F729-120A-CDF2-017F6DEDBE01}"/>
              </a:ext>
            </a:extLst>
          </p:cNvPr>
          <p:cNvSpPr txBox="1">
            <a:spLocks/>
          </p:cNvSpPr>
          <p:nvPr/>
        </p:nvSpPr>
        <p:spPr>
          <a:xfrm>
            <a:off x="838200" y="3230306"/>
            <a:ext cx="10515600" cy="262185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i="0" dirty="0">
                <a:effectLst/>
                <a:latin typeface="Abadi Extra Light" panose="020B0204020104020204" pitchFamily="34" charset="0"/>
              </a:rPr>
              <a:t>Speech analytics within AI focuses on extracting meaningful insights from audio conversations. It encompasses Automatic Speech Recognition (ASR), sentiment analysis, emotion detection, and context understanding—helping organizations unlock business value from voice data.</a:t>
            </a:r>
          </a:p>
          <a:p>
            <a:pPr algn="l"/>
            <a:r>
              <a:rPr lang="en-US" b="1" i="0" dirty="0">
                <a:effectLst/>
                <a:latin typeface="Abadi Extra Light" panose="020B0204020104020204" pitchFamily="34" charset="0"/>
              </a:rPr>
              <a:t>In call centers, these technologies are transforming quality monitoring, coaching, and customer satisfaction analysis.</a:t>
            </a:r>
          </a:p>
        </p:txBody>
      </p:sp>
      <p:sp>
        <p:nvSpPr>
          <p:cNvPr id="6" name="Footer Placeholder 5">
            <a:extLst>
              <a:ext uri="{FF2B5EF4-FFF2-40B4-BE49-F238E27FC236}">
                <a16:creationId xmlns:a16="http://schemas.microsoft.com/office/drawing/2014/main" id="{175DAC39-A01F-6C03-3655-31A07DDACA61}"/>
              </a:ext>
            </a:extLst>
          </p:cNvPr>
          <p:cNvSpPr>
            <a:spLocks noGrp="1"/>
          </p:cNvSpPr>
          <p:nvPr>
            <p:ph type="ftr" sz="quarter" idx="11"/>
          </p:nvPr>
        </p:nvSpPr>
        <p:spPr/>
        <p:txBody>
          <a:bodyPr/>
          <a:lstStyle/>
          <a:p>
            <a:r>
              <a:rPr lang="en-US"/>
              <a:t>Department of AI &amp; DS</a:t>
            </a:r>
          </a:p>
        </p:txBody>
      </p:sp>
      <p:sp>
        <p:nvSpPr>
          <p:cNvPr id="7" name="Slide Number Placeholder 6">
            <a:extLst>
              <a:ext uri="{FF2B5EF4-FFF2-40B4-BE49-F238E27FC236}">
                <a16:creationId xmlns:a16="http://schemas.microsoft.com/office/drawing/2014/main" id="{50F205FB-F128-24E7-B8C9-B21ED4904571}"/>
              </a:ext>
            </a:extLst>
          </p:cNvPr>
          <p:cNvSpPr>
            <a:spLocks noGrp="1"/>
          </p:cNvSpPr>
          <p:nvPr>
            <p:ph type="sldNum" sz="quarter" idx="12"/>
          </p:nvPr>
        </p:nvSpPr>
        <p:spPr/>
        <p:txBody>
          <a:bodyPr/>
          <a:lstStyle/>
          <a:p>
            <a:fld id="{F4FD428E-0A98-4D0E-8808-F32CC50EFAE5}" type="slidenum">
              <a:rPr lang="en-US" smtClean="0"/>
              <a:t>3</a:t>
            </a:fld>
            <a:endParaRPr lang="en-US"/>
          </a:p>
        </p:txBody>
      </p:sp>
    </p:spTree>
    <p:extLst>
      <p:ext uri="{BB962C8B-B14F-4D97-AF65-F5344CB8AC3E}">
        <p14:creationId xmlns:p14="http://schemas.microsoft.com/office/powerpoint/2010/main" val="3877071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5E655-87D6-685F-F8AE-C1FD07C65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F1D26-ADCB-F2BF-D203-F6A62D61EB54}"/>
              </a:ext>
            </a:extLst>
          </p:cNvPr>
          <p:cNvSpPr>
            <a:spLocks noGrp="1"/>
          </p:cNvSpPr>
          <p:nvPr>
            <p:ph type="title"/>
          </p:nvPr>
        </p:nvSpPr>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Why we chosen this domain? Relate the domain with your project</a:t>
            </a:r>
          </a:p>
        </p:txBody>
      </p:sp>
      <p:sp>
        <p:nvSpPr>
          <p:cNvPr id="4" name="Subtitle 3">
            <a:extLst>
              <a:ext uri="{FF2B5EF4-FFF2-40B4-BE49-F238E27FC236}">
                <a16:creationId xmlns:a16="http://schemas.microsoft.com/office/drawing/2014/main" id="{CB592169-75AF-9CA8-6BE4-19DBE39F7FF2}"/>
              </a:ext>
            </a:extLst>
          </p:cNvPr>
          <p:cNvSpPr>
            <a:spLocks noGrp="1"/>
          </p:cNvSpPr>
          <p:nvPr>
            <p:ph idx="1"/>
          </p:nvPr>
        </p:nvSpPr>
        <p:spPr/>
        <p:txBody>
          <a:bodyPr>
            <a:normAutofit/>
          </a:bodyPr>
          <a:lstStyle/>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Growing importance: </a:t>
            </a:r>
            <a:r>
              <a:rPr lang="en-US" sz="2400" b="1" i="0" dirty="0">
                <a:effectLst/>
                <a:latin typeface="Abadi Extra Light" panose="020B0204020104020204" pitchFamily="34" charset="0"/>
              </a:rPr>
              <a:t>Call centers field millions of interactions; understanding these is key to customer retention.</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Manual monitoring is unsustainable: </a:t>
            </a:r>
            <a:r>
              <a:rPr lang="en-US" sz="2400" b="1" i="0" dirty="0">
                <a:effectLst/>
                <a:latin typeface="Abadi Extra Light" panose="020B0204020104020204" pitchFamily="34" charset="0"/>
              </a:rPr>
              <a:t>Listening to calls is labor-intensive, subjective, and often misses subtle patterns.</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AI transforms quality and efficiency</a:t>
            </a:r>
            <a:r>
              <a:rPr lang="en-US" sz="2400" b="1" i="0" dirty="0">
                <a:effectLst/>
                <a:latin typeface="Abadi Extra Light" panose="020B0204020104020204" pitchFamily="34" charset="0"/>
              </a:rPr>
              <a:t>: Automated systems can analyze every call in real-time, identify agent strengths and weaknesses, and measure customer sentiment.</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Industry relevance</a:t>
            </a:r>
            <a:r>
              <a:rPr lang="en-US" sz="2400" b="1" i="0" dirty="0">
                <a:effectLst/>
                <a:latin typeface="Abadi Extra Light" panose="020B0204020104020204" pitchFamily="34" charset="0"/>
              </a:rPr>
              <a:t>: Companies increasingly deploy AI for speech analytics to stay competitive.</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Academic challenge</a:t>
            </a:r>
            <a:r>
              <a:rPr lang="en-US" sz="2400" b="1" i="0" dirty="0">
                <a:effectLst/>
                <a:latin typeface="Abadi Extra Light" panose="020B0204020104020204" pitchFamily="34" charset="0"/>
              </a:rPr>
              <a:t>: Integrates deep learning, NLP, and data visualization—illustrating the power of AI in real-world enterprise applications.</a:t>
            </a:r>
          </a:p>
        </p:txBody>
      </p:sp>
      <p:sp>
        <p:nvSpPr>
          <p:cNvPr id="3" name="Footer Placeholder 2">
            <a:extLst>
              <a:ext uri="{FF2B5EF4-FFF2-40B4-BE49-F238E27FC236}">
                <a16:creationId xmlns:a16="http://schemas.microsoft.com/office/drawing/2014/main" id="{308B5227-FADE-30FB-FFD2-C77E51C4ABF0}"/>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891A9533-25A1-07DD-9B56-651D401E3DF8}"/>
              </a:ext>
            </a:extLst>
          </p:cNvPr>
          <p:cNvSpPr>
            <a:spLocks noGrp="1"/>
          </p:cNvSpPr>
          <p:nvPr>
            <p:ph type="sldNum" sz="quarter" idx="12"/>
          </p:nvPr>
        </p:nvSpPr>
        <p:spPr/>
        <p:txBody>
          <a:bodyPr/>
          <a:lstStyle/>
          <a:p>
            <a:fld id="{F4FD428E-0A98-4D0E-8808-F32CC50EFAE5}" type="slidenum">
              <a:rPr lang="en-US" smtClean="0"/>
              <a:t>4</a:t>
            </a:fld>
            <a:endParaRPr lang="en-US"/>
          </a:p>
        </p:txBody>
      </p:sp>
    </p:spTree>
    <p:extLst>
      <p:ext uri="{BB962C8B-B14F-4D97-AF65-F5344CB8AC3E}">
        <p14:creationId xmlns:p14="http://schemas.microsoft.com/office/powerpoint/2010/main" val="3713528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7C0F3-7BFE-6A94-A4EA-0832BBF97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CE97DB-4FDE-F947-4858-53CB614546A8}"/>
              </a:ext>
            </a:extLst>
          </p:cNvPr>
          <p:cNvSpPr>
            <a:spLocks noGrp="1"/>
          </p:cNvSpPr>
          <p:nvPr>
            <p:ph type="title"/>
          </p:nvPr>
        </p:nvSpPr>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Problem Statement</a:t>
            </a:r>
          </a:p>
        </p:txBody>
      </p:sp>
      <p:sp>
        <p:nvSpPr>
          <p:cNvPr id="4" name="Subtitle 3">
            <a:extLst>
              <a:ext uri="{FF2B5EF4-FFF2-40B4-BE49-F238E27FC236}">
                <a16:creationId xmlns:a16="http://schemas.microsoft.com/office/drawing/2014/main" id="{18F1F366-7C5A-C95B-45E3-C7B5A21B17D2}"/>
              </a:ext>
            </a:extLst>
          </p:cNvPr>
          <p:cNvSpPr>
            <a:spLocks noGrp="1"/>
          </p:cNvSpPr>
          <p:nvPr>
            <p:ph idx="1"/>
          </p:nvPr>
        </p:nvSpPr>
        <p:spPr/>
        <p:txBody>
          <a:bodyPr>
            <a:normAutofit lnSpcReduction="10000"/>
          </a:bodyPr>
          <a:lstStyle/>
          <a:p>
            <a:pPr algn="l"/>
            <a:r>
              <a:rPr lang="en-US" sz="2400" b="1" i="0" dirty="0">
                <a:effectLst/>
                <a:latin typeface="Abadi Extra Light" panose="020B0204020104020204" pitchFamily="34" charset="0"/>
              </a:rPr>
              <a:t>Traditional call center monitoring methods involve manual review of customer-agent conversations, which is time-consuming, inconsistent, and unable to scale for large call volumes.</a:t>
            </a:r>
          </a:p>
          <a:p>
            <a:pPr marL="0" indent="0" algn="l">
              <a:buNone/>
            </a:pPr>
            <a:r>
              <a:rPr lang="en-US" sz="2400" b="1" i="0" dirty="0">
                <a:effectLst/>
                <a:latin typeface="Aharoni" panose="02010803020104030203" pitchFamily="2" charset="-79"/>
                <a:cs typeface="Aharoni" panose="02010803020104030203" pitchFamily="2" charset="-79"/>
              </a:rPr>
              <a:t>Current systems:</a:t>
            </a:r>
          </a:p>
          <a:p>
            <a:pPr algn="l">
              <a:buFont typeface="Arial" panose="020B0604020202020204" pitchFamily="34" charset="0"/>
              <a:buChar char="•"/>
            </a:pPr>
            <a:r>
              <a:rPr lang="en-US" sz="2400" b="1" i="0" dirty="0">
                <a:effectLst/>
                <a:latin typeface="Abadi Extra Light" panose="020B0204020104020204" pitchFamily="34" charset="0"/>
              </a:rPr>
              <a:t>Focus mainly on text-based or basic keyword analysis.</a:t>
            </a:r>
          </a:p>
          <a:p>
            <a:pPr algn="l">
              <a:buFont typeface="Arial" panose="020B0604020202020204" pitchFamily="34" charset="0"/>
              <a:buChar char="•"/>
            </a:pPr>
            <a:r>
              <a:rPr lang="en-US" sz="2400" b="1" i="0" dirty="0">
                <a:effectLst/>
                <a:latin typeface="Abadi Extra Light" panose="020B0204020104020204" pitchFamily="34" charset="0"/>
              </a:rPr>
              <a:t>Cannot accurately measure emotional tone or conversational context.</a:t>
            </a:r>
          </a:p>
          <a:p>
            <a:pPr algn="l">
              <a:buFont typeface="Arial" panose="020B0604020202020204" pitchFamily="34" charset="0"/>
              <a:buChar char="•"/>
            </a:pPr>
            <a:r>
              <a:rPr lang="en-US" sz="2400" b="1" i="0" dirty="0">
                <a:effectLst/>
                <a:latin typeface="Abadi Extra Light" panose="020B0204020104020204" pitchFamily="34" charset="0"/>
              </a:rPr>
              <a:t>Lack real-time feedback for continuous improvement.</a:t>
            </a:r>
          </a:p>
          <a:p>
            <a:pPr marL="0" indent="0" algn="l">
              <a:buNone/>
            </a:pPr>
            <a:r>
              <a:rPr lang="en-US" sz="2400" b="0" i="0" dirty="0">
                <a:effectLst/>
                <a:latin typeface="Aharoni" panose="02010803020104030203" pitchFamily="2" charset="-79"/>
                <a:cs typeface="Aharoni" panose="02010803020104030203" pitchFamily="2" charset="-79"/>
              </a:rPr>
              <a:t>There is a critical need for an AI-driven platform that:</a:t>
            </a:r>
          </a:p>
          <a:p>
            <a:pPr algn="l">
              <a:buFont typeface="+mj-lt"/>
              <a:buAutoNum type="arabicPeriod"/>
            </a:pPr>
            <a:r>
              <a:rPr lang="en-US" sz="2400" b="1" i="0" dirty="0">
                <a:effectLst/>
                <a:latin typeface="Abadi Extra Light" panose="020B0204020104020204" pitchFamily="34" charset="0"/>
              </a:rPr>
              <a:t>Automatically transcribes calls.</a:t>
            </a:r>
          </a:p>
          <a:p>
            <a:pPr algn="l">
              <a:buFont typeface="+mj-lt"/>
              <a:buAutoNum type="arabicPeriod"/>
            </a:pPr>
            <a:r>
              <a:rPr lang="en-US" sz="2400" b="1" i="0" dirty="0">
                <a:effectLst/>
                <a:latin typeface="Abadi Extra Light" panose="020B0204020104020204" pitchFamily="34" charset="0"/>
              </a:rPr>
              <a:t>Detects sentiment and context from voice.</a:t>
            </a:r>
          </a:p>
          <a:p>
            <a:pPr algn="l">
              <a:buFont typeface="+mj-lt"/>
              <a:buAutoNum type="arabicPeriod"/>
            </a:pPr>
            <a:r>
              <a:rPr lang="en-US" sz="2400" b="1" i="0" dirty="0">
                <a:effectLst/>
                <a:latin typeface="Abadi Extra Light" panose="020B0204020104020204" pitchFamily="34" charset="0"/>
              </a:rPr>
              <a:t>Presents actionable insights promptly to agents and management.</a:t>
            </a:r>
          </a:p>
          <a:p>
            <a:pPr algn="l">
              <a:buFont typeface="Arial" panose="020B0604020202020204" pitchFamily="34" charset="0"/>
              <a:buChar char="•"/>
            </a:pPr>
            <a:endParaRPr lang="en-US" sz="2400" b="1" i="0" dirty="0">
              <a:effectLst/>
              <a:latin typeface="Abadi Extra Light" panose="020B0204020104020204" pitchFamily="34" charset="0"/>
            </a:endParaRPr>
          </a:p>
        </p:txBody>
      </p:sp>
      <p:sp>
        <p:nvSpPr>
          <p:cNvPr id="3" name="Footer Placeholder 2">
            <a:extLst>
              <a:ext uri="{FF2B5EF4-FFF2-40B4-BE49-F238E27FC236}">
                <a16:creationId xmlns:a16="http://schemas.microsoft.com/office/drawing/2014/main" id="{88B81ECE-E182-4B66-7D1B-9F1B8C310CA0}"/>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9E374745-20CC-BF0B-CAA3-235E71F650E0}"/>
              </a:ext>
            </a:extLst>
          </p:cNvPr>
          <p:cNvSpPr>
            <a:spLocks noGrp="1"/>
          </p:cNvSpPr>
          <p:nvPr>
            <p:ph type="sldNum" sz="quarter" idx="12"/>
          </p:nvPr>
        </p:nvSpPr>
        <p:spPr/>
        <p:txBody>
          <a:bodyPr/>
          <a:lstStyle/>
          <a:p>
            <a:fld id="{F4FD428E-0A98-4D0E-8808-F32CC50EFAE5}" type="slidenum">
              <a:rPr lang="en-US" smtClean="0"/>
              <a:t>5</a:t>
            </a:fld>
            <a:endParaRPr lang="en-US"/>
          </a:p>
        </p:txBody>
      </p:sp>
    </p:spTree>
    <p:extLst>
      <p:ext uri="{BB962C8B-B14F-4D97-AF65-F5344CB8AC3E}">
        <p14:creationId xmlns:p14="http://schemas.microsoft.com/office/powerpoint/2010/main" val="757808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FCD56-6501-E4D1-AFC5-3E87F99E4A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92EB8-AB4D-2F7A-C32D-F6A5A6782A73}"/>
              </a:ext>
            </a:extLst>
          </p:cNvPr>
          <p:cNvSpPr>
            <a:spLocks noGrp="1"/>
          </p:cNvSpPr>
          <p:nvPr>
            <p:ph type="title"/>
          </p:nvPr>
        </p:nvSpPr>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Scope of the project</a:t>
            </a:r>
          </a:p>
        </p:txBody>
      </p:sp>
      <p:sp>
        <p:nvSpPr>
          <p:cNvPr id="4" name="Subtitle 3">
            <a:extLst>
              <a:ext uri="{FF2B5EF4-FFF2-40B4-BE49-F238E27FC236}">
                <a16:creationId xmlns:a16="http://schemas.microsoft.com/office/drawing/2014/main" id="{3F8441B2-1D22-0D4F-E7EA-03687E4522C3}"/>
              </a:ext>
            </a:extLst>
          </p:cNvPr>
          <p:cNvSpPr>
            <a:spLocks noGrp="1"/>
          </p:cNvSpPr>
          <p:nvPr>
            <p:ph idx="1"/>
          </p:nvPr>
        </p:nvSpPr>
        <p:spPr/>
        <p:txBody>
          <a:bodyPr>
            <a:normAutofit/>
          </a:bodyPr>
          <a:lstStyle/>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Automated Speech-to-Text: </a:t>
            </a:r>
            <a:r>
              <a:rPr lang="en-US" sz="2400" b="1" i="0" dirty="0">
                <a:effectLst/>
                <a:latin typeface="Abadi Extra Light" panose="020B0204020104020204" pitchFamily="34" charset="0"/>
              </a:rPr>
              <a:t>Transcribe customer and agent speech using advanced ASR techniques.</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Sentiment &amp; Context Classification: </a:t>
            </a:r>
            <a:r>
              <a:rPr lang="en-US" sz="2400" b="1" i="0" dirty="0">
                <a:effectLst/>
                <a:latin typeface="Abadi Extra Light" panose="020B0204020104020204" pitchFamily="34" charset="0"/>
              </a:rPr>
              <a:t>Apply NLP and ML models to classify calls by sentiment (positive/negative/neutral) and by context (complaint, inquiry, feedback, etc.).</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Dashboard for Insights</a:t>
            </a:r>
            <a:r>
              <a:rPr lang="en-US" sz="2400" b="1" i="0" dirty="0">
                <a:effectLst/>
                <a:latin typeface="Abadi Extra Light" panose="020B0204020104020204" pitchFamily="34" charset="0"/>
              </a:rPr>
              <a:t>: Display agent performance, customer satisfaction metrics, and call trends via interactive dashboards.</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User Roles</a:t>
            </a:r>
            <a:r>
              <a:rPr lang="en-US" sz="2400" b="1" i="0" dirty="0">
                <a:effectLst/>
                <a:latin typeface="Abadi Extra Light" panose="020B0204020104020204" pitchFamily="34" charset="0"/>
              </a:rPr>
              <a:t>: Customized views and reports for agents, admins, and management.</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Scalability &amp; Integration</a:t>
            </a:r>
            <a:r>
              <a:rPr lang="en-US" sz="2400" b="1" i="0" dirty="0">
                <a:effectLst/>
                <a:latin typeface="Abadi Extra Light" panose="020B0204020104020204" pitchFamily="34" charset="0"/>
              </a:rPr>
              <a:t>: Framework should be adaptable to various call centers and support future integration.</a:t>
            </a:r>
          </a:p>
        </p:txBody>
      </p:sp>
      <p:sp>
        <p:nvSpPr>
          <p:cNvPr id="3" name="Footer Placeholder 2">
            <a:extLst>
              <a:ext uri="{FF2B5EF4-FFF2-40B4-BE49-F238E27FC236}">
                <a16:creationId xmlns:a16="http://schemas.microsoft.com/office/drawing/2014/main" id="{B4A8AF04-EFFF-9862-AD80-026DD45D792E}"/>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12ADF099-9683-39DA-A76D-2DF2036DFF24}"/>
              </a:ext>
            </a:extLst>
          </p:cNvPr>
          <p:cNvSpPr>
            <a:spLocks noGrp="1"/>
          </p:cNvSpPr>
          <p:nvPr>
            <p:ph type="sldNum" sz="quarter" idx="12"/>
          </p:nvPr>
        </p:nvSpPr>
        <p:spPr/>
        <p:txBody>
          <a:bodyPr/>
          <a:lstStyle/>
          <a:p>
            <a:fld id="{F4FD428E-0A98-4D0E-8808-F32CC50EFAE5}" type="slidenum">
              <a:rPr lang="en-US" smtClean="0"/>
              <a:t>6</a:t>
            </a:fld>
            <a:endParaRPr lang="en-US"/>
          </a:p>
        </p:txBody>
      </p:sp>
    </p:spTree>
    <p:extLst>
      <p:ext uri="{BB962C8B-B14F-4D97-AF65-F5344CB8AC3E}">
        <p14:creationId xmlns:p14="http://schemas.microsoft.com/office/powerpoint/2010/main" val="1824071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2DB22-0313-8B2C-012B-063A9AB6993F}"/>
              </a:ext>
            </a:extLst>
          </p:cNvPr>
          <p:cNvSpPr>
            <a:spLocks noGrp="1"/>
          </p:cNvSpPr>
          <p:nvPr>
            <p:ph type="title"/>
          </p:nvPr>
        </p:nvSpPr>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Project</a:t>
            </a:r>
            <a:r>
              <a:rPr lang="en-US" sz="4000" dirty="0">
                <a:latin typeface="Times New Roman" panose="02020603050405020304" pitchFamily="18" charset="0"/>
                <a:cs typeface="Times New Roman" panose="02020603050405020304" pitchFamily="18" charset="0"/>
              </a:rPr>
              <a:t> </a:t>
            </a:r>
            <a:r>
              <a:rPr lang="en-US" sz="4000" b="1" dirty="0">
                <a:solidFill>
                  <a:srgbClr val="002060"/>
                </a:solidFill>
                <a:latin typeface="Times New Roman" panose="02020603050405020304" pitchFamily="18" charset="0"/>
                <a:ea typeface="+mn-ea"/>
                <a:cs typeface="Times New Roman" panose="02020603050405020304" pitchFamily="18" charset="0"/>
              </a:rPr>
              <a:t>Objective:</a:t>
            </a:r>
          </a:p>
        </p:txBody>
      </p:sp>
      <p:sp>
        <p:nvSpPr>
          <p:cNvPr id="4" name="Subtitle 3">
            <a:extLst>
              <a:ext uri="{FF2B5EF4-FFF2-40B4-BE49-F238E27FC236}">
                <a16:creationId xmlns:a16="http://schemas.microsoft.com/office/drawing/2014/main" id="{FDBC4243-9E7C-2941-7B9A-B4D4EDC1A72F}"/>
              </a:ext>
            </a:extLst>
          </p:cNvPr>
          <p:cNvSpPr>
            <a:spLocks noGrp="1"/>
          </p:cNvSpPr>
          <p:nvPr>
            <p:ph idx="1"/>
          </p:nvPr>
        </p:nvSpPr>
        <p:spPr/>
        <p:txBody>
          <a:bodyPr>
            <a:normAutofit/>
          </a:bodyPr>
          <a:lstStyle/>
          <a:p>
            <a:pPr algn="l">
              <a:buFont typeface="Arial" panose="020B0604020202020204" pitchFamily="34" charset="0"/>
              <a:buChar char="•"/>
            </a:pPr>
            <a:r>
              <a:rPr lang="en-US" sz="2400" b="1" i="0" dirty="0">
                <a:effectLst/>
                <a:latin typeface="Abadi Extra Light" panose="020B0204020104020204" pitchFamily="34" charset="0"/>
              </a:rPr>
              <a:t>Develop a system that combines voice recognition and sentiment/context analysis for call center monitoring.</a:t>
            </a:r>
          </a:p>
          <a:p>
            <a:pPr algn="l">
              <a:buFont typeface="Arial" panose="020B0604020202020204" pitchFamily="34" charset="0"/>
              <a:buChar char="•"/>
            </a:pPr>
            <a:r>
              <a:rPr lang="en-US" sz="2400" b="1" i="0" dirty="0">
                <a:effectLst/>
                <a:latin typeface="Abadi Extra Light" panose="020B0204020104020204" pitchFamily="34" charset="0"/>
              </a:rPr>
              <a:t>Enable real-time feedback and trend identification for improvement of customer service.</a:t>
            </a:r>
          </a:p>
          <a:p>
            <a:pPr algn="l">
              <a:buFont typeface="Arial" panose="020B0604020202020204" pitchFamily="34" charset="0"/>
              <a:buChar char="•"/>
            </a:pPr>
            <a:r>
              <a:rPr lang="en-US" sz="2400" b="1" i="0" dirty="0">
                <a:effectLst/>
                <a:latin typeface="Abadi Extra Light" panose="020B0204020104020204" pitchFamily="34" charset="0"/>
              </a:rPr>
              <a:t>Deliver an easy-to-use dashboard for data-driven decision-making by all stakeholders.</a:t>
            </a:r>
          </a:p>
          <a:p>
            <a:pPr algn="l">
              <a:buFont typeface="Arial" panose="020B0604020202020204" pitchFamily="34" charset="0"/>
              <a:buChar char="•"/>
            </a:pPr>
            <a:r>
              <a:rPr lang="en-US" sz="2400" b="1" i="0" dirty="0">
                <a:effectLst/>
                <a:latin typeface="Abadi Extra Light" panose="020B0204020104020204" pitchFamily="34" charset="0"/>
              </a:rPr>
              <a:t>Demonstrate measurable improvement over traditional/manual monitoring.</a:t>
            </a:r>
          </a:p>
          <a:p>
            <a:pPr algn="l"/>
            <a:endParaRPr lang="en-US" sz="3600" b="1" dirty="0">
              <a:latin typeface="Abadi Extra Light" panose="020B0204020104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EBFEAF90-CBB7-D210-5104-04A0A42D6294}"/>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B0C38495-7EFA-E59C-B0C3-EC921FE0763C}"/>
              </a:ext>
            </a:extLst>
          </p:cNvPr>
          <p:cNvSpPr>
            <a:spLocks noGrp="1"/>
          </p:cNvSpPr>
          <p:nvPr>
            <p:ph type="sldNum" sz="quarter" idx="12"/>
          </p:nvPr>
        </p:nvSpPr>
        <p:spPr/>
        <p:txBody>
          <a:bodyPr/>
          <a:lstStyle/>
          <a:p>
            <a:fld id="{F4FD428E-0A98-4D0E-8808-F32CC50EFAE5}" type="slidenum">
              <a:rPr lang="en-US" smtClean="0"/>
              <a:t>7</a:t>
            </a:fld>
            <a:endParaRPr lang="en-US"/>
          </a:p>
        </p:txBody>
      </p:sp>
    </p:spTree>
    <p:extLst>
      <p:ext uri="{BB962C8B-B14F-4D97-AF65-F5344CB8AC3E}">
        <p14:creationId xmlns:p14="http://schemas.microsoft.com/office/powerpoint/2010/main" val="3981411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440E6-5747-D794-E576-B30909596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1C6E0-C410-26B2-3DF1-42462C0562C9}"/>
              </a:ext>
            </a:extLst>
          </p:cNvPr>
          <p:cNvSpPr>
            <a:spLocks noGrp="1"/>
          </p:cNvSpPr>
          <p:nvPr>
            <p:ph type="title"/>
          </p:nvPr>
        </p:nvSpPr>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Existing system &amp; Technique used</a:t>
            </a:r>
          </a:p>
        </p:txBody>
      </p:sp>
      <p:sp>
        <p:nvSpPr>
          <p:cNvPr id="4" name="Subtitle 3">
            <a:extLst>
              <a:ext uri="{FF2B5EF4-FFF2-40B4-BE49-F238E27FC236}">
                <a16:creationId xmlns:a16="http://schemas.microsoft.com/office/drawing/2014/main" id="{68C5A85C-C5B4-01F2-D7B3-3BBBA0FB0052}"/>
              </a:ext>
            </a:extLst>
          </p:cNvPr>
          <p:cNvSpPr>
            <a:spLocks noGrp="1"/>
          </p:cNvSpPr>
          <p:nvPr>
            <p:ph idx="1"/>
          </p:nvPr>
        </p:nvSpPr>
        <p:spPr/>
        <p:txBody>
          <a:bodyPr>
            <a:normAutofit/>
          </a:bodyPr>
          <a:lstStyle/>
          <a:p>
            <a:pPr marL="0" indent="0" algn="l">
              <a:buNone/>
            </a:pPr>
            <a:r>
              <a:rPr lang="en-US" sz="2400" b="0" i="0" dirty="0">
                <a:effectLst/>
                <a:latin typeface="Aharoni" panose="02010803020104030203" pitchFamily="2" charset="-79"/>
                <a:cs typeface="Aharoni" panose="02010803020104030203" pitchFamily="2" charset="-79"/>
              </a:rPr>
              <a:t>Current Approaches:</a:t>
            </a:r>
          </a:p>
          <a:p>
            <a:pPr algn="l">
              <a:buFont typeface="Arial" panose="020B0604020202020204" pitchFamily="34" charset="0"/>
              <a:buChar char="•"/>
            </a:pPr>
            <a:r>
              <a:rPr lang="en-US" sz="2400" b="1" i="0" dirty="0">
                <a:effectLst/>
                <a:latin typeface="Abadi Extra Light" panose="020B0204020104020204" pitchFamily="34" charset="0"/>
              </a:rPr>
              <a:t>Human supervisors review a small sample of calls, leading to subjective and delayed feedback.</a:t>
            </a:r>
          </a:p>
          <a:p>
            <a:pPr algn="l">
              <a:buFont typeface="Arial" panose="020B0604020202020204" pitchFamily="34" charset="0"/>
              <a:buChar char="•"/>
            </a:pPr>
            <a:r>
              <a:rPr lang="en-US" sz="2400" b="1" i="0" dirty="0">
                <a:effectLst/>
                <a:latin typeface="Abadi Extra Light" panose="020B0204020104020204" pitchFamily="34" charset="0"/>
              </a:rPr>
              <a:t>Basic analytic tools focus on call duration or simple word spotting after transcribing calls to text.</a:t>
            </a:r>
          </a:p>
          <a:p>
            <a:pPr algn="l">
              <a:buFont typeface="Arial" panose="020B0604020202020204" pitchFamily="34" charset="0"/>
              <a:buChar char="•"/>
            </a:pPr>
            <a:r>
              <a:rPr lang="en-US" sz="2400" b="1" i="0" dirty="0">
                <a:effectLst/>
                <a:latin typeface="Abadi Extra Light" panose="020B0204020104020204" pitchFamily="34" charset="0"/>
              </a:rPr>
              <a:t>Sentiment analysis is typically performed only on chat or email (text) interactions.</a:t>
            </a:r>
          </a:p>
          <a:p>
            <a:pPr marL="0" indent="0" algn="l">
              <a:buNone/>
            </a:pPr>
            <a:r>
              <a:rPr lang="en-US" sz="2400" b="1" i="0" dirty="0">
                <a:effectLst/>
                <a:latin typeface="Aharoni" panose="02010803020104030203" pitchFamily="2" charset="-79"/>
                <a:cs typeface="Aharoni" panose="02010803020104030203" pitchFamily="2" charset="-79"/>
              </a:rPr>
              <a:t>Limitations:</a:t>
            </a:r>
          </a:p>
          <a:p>
            <a:pPr algn="l">
              <a:buFont typeface="Arial" panose="020B0604020202020204" pitchFamily="34" charset="0"/>
              <a:buChar char="•"/>
            </a:pPr>
            <a:r>
              <a:rPr lang="en-US" sz="2400" b="1" i="0" dirty="0">
                <a:effectLst/>
                <a:latin typeface="Abadi Extra Light" panose="020B0204020104020204" pitchFamily="34" charset="0"/>
              </a:rPr>
              <a:t>High labor cost; not scalable for growing call volumes.</a:t>
            </a:r>
          </a:p>
          <a:p>
            <a:pPr algn="l">
              <a:buFont typeface="Arial" panose="020B0604020202020204" pitchFamily="34" charset="0"/>
              <a:buChar char="•"/>
            </a:pPr>
            <a:r>
              <a:rPr lang="en-US" sz="2400" b="1" i="0" dirty="0">
                <a:effectLst/>
                <a:latin typeface="Abadi Extra Light" panose="020B0204020104020204" pitchFamily="34" charset="0"/>
              </a:rPr>
              <a:t>Neglects critical information in tone and context.</a:t>
            </a:r>
          </a:p>
          <a:p>
            <a:pPr algn="l">
              <a:buFont typeface="Arial" panose="020B0604020202020204" pitchFamily="34" charset="0"/>
              <a:buChar char="•"/>
            </a:pPr>
            <a:r>
              <a:rPr lang="en-US" sz="2400" b="1" i="0" dirty="0">
                <a:effectLst/>
                <a:latin typeface="Abadi Extra Light" panose="020B0204020104020204" pitchFamily="34" charset="0"/>
              </a:rPr>
              <a:t>Does not support real-time intervention.</a:t>
            </a:r>
          </a:p>
        </p:txBody>
      </p:sp>
      <p:sp>
        <p:nvSpPr>
          <p:cNvPr id="3" name="Footer Placeholder 2">
            <a:extLst>
              <a:ext uri="{FF2B5EF4-FFF2-40B4-BE49-F238E27FC236}">
                <a16:creationId xmlns:a16="http://schemas.microsoft.com/office/drawing/2014/main" id="{7BC95A60-57DC-9B7C-D70A-6F1B53976A83}"/>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A0130455-0FE8-8BE7-66B3-1C0726B24FDE}"/>
              </a:ext>
            </a:extLst>
          </p:cNvPr>
          <p:cNvSpPr>
            <a:spLocks noGrp="1"/>
          </p:cNvSpPr>
          <p:nvPr>
            <p:ph type="sldNum" sz="quarter" idx="12"/>
          </p:nvPr>
        </p:nvSpPr>
        <p:spPr/>
        <p:txBody>
          <a:bodyPr/>
          <a:lstStyle/>
          <a:p>
            <a:fld id="{F4FD428E-0A98-4D0E-8808-F32CC50EFAE5}" type="slidenum">
              <a:rPr lang="en-US" smtClean="0"/>
              <a:t>8</a:t>
            </a:fld>
            <a:endParaRPr lang="en-US"/>
          </a:p>
        </p:txBody>
      </p:sp>
    </p:spTree>
    <p:extLst>
      <p:ext uri="{BB962C8B-B14F-4D97-AF65-F5344CB8AC3E}">
        <p14:creationId xmlns:p14="http://schemas.microsoft.com/office/powerpoint/2010/main" val="3752060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EF284-95A4-1D5E-2113-9A9892E006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815822-6495-B855-FF37-B9F15D503257}"/>
              </a:ext>
            </a:extLst>
          </p:cNvPr>
          <p:cNvSpPr>
            <a:spLocks noGrp="1"/>
          </p:cNvSpPr>
          <p:nvPr>
            <p:ph type="title"/>
          </p:nvPr>
        </p:nvSpPr>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Drawbacks of existing system</a:t>
            </a:r>
          </a:p>
        </p:txBody>
      </p:sp>
      <p:sp>
        <p:nvSpPr>
          <p:cNvPr id="4" name="Subtitle 3">
            <a:extLst>
              <a:ext uri="{FF2B5EF4-FFF2-40B4-BE49-F238E27FC236}">
                <a16:creationId xmlns:a16="http://schemas.microsoft.com/office/drawing/2014/main" id="{847C36BB-3E28-5AF6-3A2D-B274D667918A}"/>
              </a:ext>
            </a:extLst>
          </p:cNvPr>
          <p:cNvSpPr>
            <a:spLocks noGrp="1"/>
          </p:cNvSpPr>
          <p:nvPr>
            <p:ph idx="1"/>
          </p:nvPr>
        </p:nvSpPr>
        <p:spPr/>
        <p:txBody>
          <a:bodyPr>
            <a:normAutofit/>
          </a:bodyPr>
          <a:lstStyle/>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Subjectivity: </a:t>
            </a:r>
            <a:r>
              <a:rPr lang="en-US" sz="2400" b="1" i="0" dirty="0">
                <a:effectLst/>
                <a:latin typeface="Abadi Extra Light" panose="020B0204020104020204" pitchFamily="34" charset="0"/>
              </a:rPr>
              <a:t>Human interpretation varies and is prone to bias.</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Limited Coverage: </a:t>
            </a:r>
            <a:r>
              <a:rPr lang="en-US" sz="2400" b="1" i="0" dirty="0">
                <a:effectLst/>
                <a:latin typeface="Abadi Extra Light" panose="020B0204020104020204" pitchFamily="34" charset="0"/>
              </a:rPr>
              <a:t>Only a fraction of calls can be reviewed, missing larger patterns.</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Information Loss: </a:t>
            </a:r>
            <a:r>
              <a:rPr lang="en-US" sz="2400" b="1" i="0" dirty="0">
                <a:effectLst/>
                <a:latin typeface="Abadi Extra Light" panose="020B0204020104020204" pitchFamily="34" charset="0"/>
              </a:rPr>
              <a:t>Emotional tone, urgency, and subtle cues in voice are not captured by text-only systems.</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Delayed Feedback: </a:t>
            </a:r>
            <a:r>
              <a:rPr lang="en-US" sz="2400" b="1" i="0" dirty="0">
                <a:effectLst/>
                <a:latin typeface="Abadi Extra Light" panose="020B0204020104020204" pitchFamily="34" charset="0"/>
              </a:rPr>
              <a:t>Actionable insights are often delivered too late to improve the customer/agent experience.</a:t>
            </a:r>
          </a:p>
        </p:txBody>
      </p:sp>
      <p:sp>
        <p:nvSpPr>
          <p:cNvPr id="3" name="Footer Placeholder 2">
            <a:extLst>
              <a:ext uri="{FF2B5EF4-FFF2-40B4-BE49-F238E27FC236}">
                <a16:creationId xmlns:a16="http://schemas.microsoft.com/office/drawing/2014/main" id="{9A8E4E6F-827B-69BD-F4B2-D789136DA461}"/>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88EFFFD3-F5EE-9C27-9205-6609D666B23D}"/>
              </a:ext>
            </a:extLst>
          </p:cNvPr>
          <p:cNvSpPr>
            <a:spLocks noGrp="1"/>
          </p:cNvSpPr>
          <p:nvPr>
            <p:ph type="sldNum" sz="quarter" idx="12"/>
          </p:nvPr>
        </p:nvSpPr>
        <p:spPr/>
        <p:txBody>
          <a:bodyPr/>
          <a:lstStyle/>
          <a:p>
            <a:fld id="{F4FD428E-0A98-4D0E-8808-F32CC50EFAE5}" type="slidenum">
              <a:rPr lang="en-US" smtClean="0"/>
              <a:t>9</a:t>
            </a:fld>
            <a:endParaRPr lang="en-US"/>
          </a:p>
        </p:txBody>
      </p:sp>
    </p:spTree>
    <p:extLst>
      <p:ext uri="{BB962C8B-B14F-4D97-AF65-F5344CB8AC3E}">
        <p14:creationId xmlns:p14="http://schemas.microsoft.com/office/powerpoint/2010/main" val="2677068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D77090-8EF3-DA8D-AFE2-3414548C9984}"/>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48C1C1C1-C10F-509B-C548-8BCB3ED662B8}"/>
              </a:ext>
            </a:extLst>
          </p:cNvPr>
          <p:cNvSpPr>
            <a:spLocks noGrp="1"/>
          </p:cNvSpPr>
          <p:nvPr>
            <p:ph type="sldNum" sz="quarter" idx="12"/>
          </p:nvPr>
        </p:nvSpPr>
        <p:spPr/>
        <p:txBody>
          <a:bodyPr/>
          <a:lstStyle/>
          <a:p>
            <a:fld id="{F4FD428E-0A98-4D0E-8808-F32CC50EFAE5}" type="slidenum">
              <a:rPr lang="en-US" smtClean="0"/>
              <a:t>10</a:t>
            </a:fld>
            <a:endParaRPr lang="en-US"/>
          </a:p>
        </p:txBody>
      </p:sp>
      <p:sp>
        <p:nvSpPr>
          <p:cNvPr id="6" name="Title 1">
            <a:extLst>
              <a:ext uri="{FF2B5EF4-FFF2-40B4-BE49-F238E27FC236}">
                <a16:creationId xmlns:a16="http://schemas.microsoft.com/office/drawing/2014/main" id="{BC46ACDB-FA56-EC7E-5109-884049D9C8A1}"/>
              </a:ext>
            </a:extLst>
          </p:cNvPr>
          <p:cNvSpPr txBox="1">
            <a:spLocks/>
          </p:cNvSpPr>
          <p:nvPr/>
        </p:nvSpPr>
        <p:spPr>
          <a:xfrm>
            <a:off x="128658" y="-112678"/>
            <a:ext cx="10515600" cy="9052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002060"/>
                </a:solidFill>
                <a:latin typeface="Times New Roman" panose="02020603050405020304" pitchFamily="18" charset="0"/>
                <a:ea typeface="+mn-ea"/>
                <a:cs typeface="Times New Roman" panose="02020603050405020304" pitchFamily="18" charset="0"/>
              </a:rPr>
              <a:t>Literature review</a:t>
            </a:r>
          </a:p>
        </p:txBody>
      </p:sp>
      <p:graphicFrame>
        <p:nvGraphicFramePr>
          <p:cNvPr id="7" name="Table 6">
            <a:extLst>
              <a:ext uri="{FF2B5EF4-FFF2-40B4-BE49-F238E27FC236}">
                <a16:creationId xmlns:a16="http://schemas.microsoft.com/office/drawing/2014/main" id="{D1F90714-65A0-1A08-E004-AA2A7FAC6D96}"/>
              </a:ext>
            </a:extLst>
          </p:cNvPr>
          <p:cNvGraphicFramePr>
            <a:graphicFrameLocks noGrp="1"/>
          </p:cNvGraphicFramePr>
          <p:nvPr>
            <p:extLst>
              <p:ext uri="{D42A27DB-BD31-4B8C-83A1-F6EECF244321}">
                <p14:modId xmlns:p14="http://schemas.microsoft.com/office/powerpoint/2010/main" val="1800181214"/>
              </p:ext>
            </p:extLst>
          </p:nvPr>
        </p:nvGraphicFramePr>
        <p:xfrm>
          <a:off x="128658" y="582266"/>
          <a:ext cx="11934683" cy="6263640"/>
        </p:xfrm>
        <a:graphic>
          <a:graphicData uri="http://schemas.openxmlformats.org/drawingml/2006/table">
            <a:tbl>
              <a:tblPr firstRow="1" bandRow="1">
                <a:tableStyleId>{5940675A-B579-460E-94D1-54222C63F5DA}</a:tableStyleId>
              </a:tblPr>
              <a:tblGrid>
                <a:gridCol w="1395159">
                  <a:extLst>
                    <a:ext uri="{9D8B030D-6E8A-4147-A177-3AD203B41FA5}">
                      <a16:colId xmlns:a16="http://schemas.microsoft.com/office/drawing/2014/main" val="3575949462"/>
                    </a:ext>
                  </a:extLst>
                </a:gridCol>
                <a:gridCol w="1597209">
                  <a:extLst>
                    <a:ext uri="{9D8B030D-6E8A-4147-A177-3AD203B41FA5}">
                      <a16:colId xmlns:a16="http://schemas.microsoft.com/office/drawing/2014/main" val="1875035932"/>
                    </a:ext>
                  </a:extLst>
                </a:gridCol>
                <a:gridCol w="1322067">
                  <a:extLst>
                    <a:ext uri="{9D8B030D-6E8A-4147-A177-3AD203B41FA5}">
                      <a16:colId xmlns:a16="http://schemas.microsoft.com/office/drawing/2014/main" val="2170482336"/>
                    </a:ext>
                  </a:extLst>
                </a:gridCol>
                <a:gridCol w="1440426">
                  <a:extLst>
                    <a:ext uri="{9D8B030D-6E8A-4147-A177-3AD203B41FA5}">
                      <a16:colId xmlns:a16="http://schemas.microsoft.com/office/drawing/2014/main" val="3821630209"/>
                    </a:ext>
                  </a:extLst>
                </a:gridCol>
                <a:gridCol w="1220934">
                  <a:extLst>
                    <a:ext uri="{9D8B030D-6E8A-4147-A177-3AD203B41FA5}">
                      <a16:colId xmlns:a16="http://schemas.microsoft.com/office/drawing/2014/main" val="2133606528"/>
                    </a:ext>
                  </a:extLst>
                </a:gridCol>
                <a:gridCol w="1268118">
                  <a:extLst>
                    <a:ext uri="{9D8B030D-6E8A-4147-A177-3AD203B41FA5}">
                      <a16:colId xmlns:a16="http://schemas.microsoft.com/office/drawing/2014/main" val="1494506161"/>
                    </a:ext>
                  </a:extLst>
                </a:gridCol>
                <a:gridCol w="1092541">
                  <a:extLst>
                    <a:ext uri="{9D8B030D-6E8A-4147-A177-3AD203B41FA5}">
                      <a16:colId xmlns:a16="http://schemas.microsoft.com/office/drawing/2014/main" val="702589902"/>
                    </a:ext>
                  </a:extLst>
                </a:gridCol>
                <a:gridCol w="2598229">
                  <a:extLst>
                    <a:ext uri="{9D8B030D-6E8A-4147-A177-3AD203B41FA5}">
                      <a16:colId xmlns:a16="http://schemas.microsoft.com/office/drawing/2014/main" val="2799023261"/>
                    </a:ext>
                  </a:extLst>
                </a:gridCol>
              </a:tblGrid>
              <a:tr h="6919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Name of the Author &amp;Year of Publication</a:t>
                      </a:r>
                    </a:p>
                    <a:p>
                      <a:pPr algn="ctr"/>
                      <a:endParaRPr lang="en-US" b="1" dirty="0"/>
                    </a:p>
                  </a:txBody>
                  <a:tcPr/>
                </a:tc>
                <a:tc>
                  <a:txBody>
                    <a:bodyPr/>
                    <a:lstStyle/>
                    <a:p>
                      <a:pPr algn="ctr"/>
                      <a:r>
                        <a:rPr lang="en-US" b="1" dirty="0"/>
                        <a:t>Title of the paper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Methods/ Models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Features/ Dataset</a:t>
                      </a:r>
                    </a:p>
                    <a:p>
                      <a:pPr algn="ctr"/>
                      <a:endParaRPr lang="en-US" b="1" dirty="0"/>
                    </a:p>
                  </a:txBody>
                  <a:tcPr/>
                </a:tc>
                <a:tc>
                  <a:txBody>
                    <a:bodyPr/>
                    <a:lstStyle/>
                    <a:p>
                      <a:pPr algn="ctr"/>
                      <a:r>
                        <a:rPr lang="en-US" b="1" dirty="0"/>
                        <a:t>Metrics</a:t>
                      </a:r>
                    </a:p>
                  </a:txBody>
                  <a:tcPr/>
                </a:tc>
                <a:tc>
                  <a:txBody>
                    <a:bodyPr/>
                    <a:lstStyle/>
                    <a:p>
                      <a:pPr algn="ctr"/>
                      <a:r>
                        <a:rPr lang="en-US" b="1" dirty="0"/>
                        <a:t>Merits </a:t>
                      </a:r>
                    </a:p>
                  </a:txBody>
                  <a:tcPr/>
                </a:tc>
                <a:tc>
                  <a:txBody>
                    <a:bodyPr/>
                    <a:lstStyle/>
                    <a:p>
                      <a:pPr algn="ctr"/>
                      <a:r>
                        <a:rPr lang="en-US" b="1" dirty="0"/>
                        <a:t>Demerits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Inference</a:t>
                      </a:r>
                    </a:p>
                    <a:p>
                      <a:pPr algn="ctr"/>
                      <a:endParaRPr lang="en-US" b="1" dirty="0"/>
                    </a:p>
                  </a:txBody>
                  <a:tcPr/>
                </a:tc>
                <a:extLst>
                  <a:ext uri="{0D108BD9-81ED-4DB2-BD59-A6C34878D82A}">
                    <a16:rowId xmlns:a16="http://schemas.microsoft.com/office/drawing/2014/main" val="2976932319"/>
                  </a:ext>
                </a:extLst>
              </a:tr>
              <a:tr h="418064">
                <a:tc>
                  <a:txBody>
                    <a:bodyPr/>
                    <a:lstStyle/>
                    <a:p>
                      <a:r>
                        <a:rPr lang="en-IN" sz="1600" b="0" i="0" kern="1200" dirty="0">
                          <a:solidFill>
                            <a:schemeClr val="tx1"/>
                          </a:solidFill>
                          <a:effectLst/>
                          <a:latin typeface="+mn-lt"/>
                          <a:ea typeface="+mn-ea"/>
                          <a:cs typeface="+mn-cs"/>
                        </a:rPr>
                        <a:t>Ezzat et al., 2012</a:t>
                      </a:r>
                      <a:endParaRPr lang="en-US" sz="1600" dirty="0"/>
                    </a:p>
                  </a:txBody>
                  <a:tcPr/>
                </a:tc>
                <a:tc>
                  <a:txBody>
                    <a:bodyPr/>
                    <a:lstStyle/>
                    <a:p>
                      <a:r>
                        <a:rPr lang="en-US" sz="1300" b="1" i="0" kern="1200" dirty="0">
                          <a:solidFill>
                            <a:schemeClr val="tx1"/>
                          </a:solidFill>
                          <a:effectLst/>
                          <a:latin typeface="+mn-lt"/>
                          <a:ea typeface="+mn-ea"/>
                          <a:cs typeface="+mn-cs"/>
                        </a:rPr>
                        <a:t>Sentiment Analysis of Call Centre Audio Conversations using Text</a:t>
                      </a:r>
                      <a:endParaRPr lang="en-US" sz="1300" b="1" dirty="0"/>
                    </a:p>
                  </a:txBody>
                  <a:tcPr/>
                </a:tc>
                <a:tc>
                  <a:txBody>
                    <a:bodyPr/>
                    <a:lstStyle/>
                    <a:p>
                      <a:r>
                        <a:rPr lang="en-IN" sz="1600" b="0" i="0" kern="1200" dirty="0">
                          <a:solidFill>
                            <a:schemeClr val="tx1"/>
                          </a:solidFill>
                          <a:effectLst/>
                          <a:latin typeface="+mn-lt"/>
                          <a:ea typeface="+mn-ea"/>
                          <a:cs typeface="+mn-cs"/>
                        </a:rPr>
                        <a:t>ASR + Text Classification</a:t>
                      </a:r>
                      <a:endParaRPr lang="en-US" sz="1600" dirty="0"/>
                    </a:p>
                  </a:txBody>
                  <a:tcPr/>
                </a:tc>
                <a:tc>
                  <a:txBody>
                    <a:bodyPr/>
                    <a:lstStyle/>
                    <a:p>
                      <a:r>
                        <a:rPr lang="en-IN" sz="1600" b="0" i="0" kern="1200" dirty="0">
                          <a:solidFill>
                            <a:schemeClr val="tx1"/>
                          </a:solidFill>
                          <a:effectLst/>
                          <a:latin typeface="+mn-lt"/>
                          <a:ea typeface="+mn-ea"/>
                          <a:cs typeface="+mn-cs"/>
                        </a:rPr>
                        <a:t>Simulated call </a:t>
                      </a:r>
                      <a:r>
                        <a:rPr lang="en-IN" sz="1600" b="0" i="0" kern="1200" dirty="0" err="1">
                          <a:solidFill>
                            <a:schemeClr val="tx1"/>
                          </a:solidFill>
                          <a:effectLst/>
                          <a:latin typeface="+mn-lt"/>
                          <a:ea typeface="+mn-ea"/>
                          <a:cs typeface="+mn-cs"/>
                        </a:rPr>
                        <a:t>center</a:t>
                      </a:r>
                      <a:r>
                        <a:rPr lang="en-IN" sz="1600" b="0" i="0" kern="1200" dirty="0">
                          <a:solidFill>
                            <a:schemeClr val="tx1"/>
                          </a:solidFill>
                          <a:effectLst/>
                          <a:latin typeface="+mn-lt"/>
                          <a:ea typeface="+mn-ea"/>
                          <a:cs typeface="+mn-cs"/>
                        </a:rPr>
                        <a:t> conversations</a:t>
                      </a:r>
                      <a:endParaRPr lang="en-US" sz="1600" dirty="0"/>
                    </a:p>
                  </a:txBody>
                  <a:tcPr/>
                </a:tc>
                <a:tc>
                  <a:txBody>
                    <a:bodyPr/>
                    <a:lstStyle/>
                    <a:p>
                      <a:r>
                        <a:rPr lang="en-US" sz="1600" dirty="0"/>
                        <a:t>Accuracy, Precision</a:t>
                      </a:r>
                    </a:p>
                  </a:txBody>
                  <a:tcPr/>
                </a:tc>
                <a:tc>
                  <a:txBody>
                    <a:bodyPr/>
                    <a:lstStyle/>
                    <a:p>
                      <a:r>
                        <a:rPr lang="en-US" sz="1300" b="1" i="0" kern="1200" dirty="0">
                          <a:solidFill>
                            <a:schemeClr val="tx1"/>
                          </a:solidFill>
                          <a:effectLst/>
                          <a:latin typeface="+mn-lt"/>
                          <a:ea typeface="+mn-ea"/>
                          <a:cs typeface="+mn-cs"/>
                        </a:rPr>
                        <a:t>Integrates ASR with sentiment analysis for audio data</a:t>
                      </a:r>
                      <a:endParaRPr lang="en-US" sz="1300" b="1" dirty="0"/>
                    </a:p>
                  </a:txBody>
                  <a:tcPr/>
                </a:tc>
                <a:tc>
                  <a:txBody>
                    <a:bodyPr/>
                    <a:lstStyle/>
                    <a:p>
                      <a:r>
                        <a:rPr lang="en-US" sz="1300" b="1" i="0" kern="1200" dirty="0">
                          <a:solidFill>
                            <a:schemeClr val="tx1"/>
                          </a:solidFill>
                          <a:effectLst/>
                          <a:latin typeface="+mn-lt"/>
                          <a:ea typeface="+mn-ea"/>
                          <a:cs typeface="+mn-cs"/>
                        </a:rPr>
                        <a:t>Used synthetic data, not real calls</a:t>
                      </a:r>
                      <a:endParaRPr lang="en-US" sz="1300" b="1" dirty="0"/>
                    </a:p>
                  </a:txBody>
                  <a:tcPr/>
                </a:tc>
                <a:tc>
                  <a:txBody>
                    <a:bodyPr/>
                    <a:lstStyle/>
                    <a:p>
                      <a:r>
                        <a:rPr lang="en-US" sz="1200" b="1" i="0" kern="1200" dirty="0">
                          <a:solidFill>
                            <a:schemeClr val="tx1"/>
                          </a:solidFill>
                          <a:effectLst/>
                          <a:latin typeface="+mn-lt"/>
                          <a:ea typeface="+mn-ea"/>
                          <a:cs typeface="+mn-cs"/>
                        </a:rPr>
                        <a:t>Shows potential for combining ASR and NLP in call centers</a:t>
                      </a:r>
                      <a:endParaRPr lang="en-US" sz="1200" b="1" dirty="0"/>
                    </a:p>
                  </a:txBody>
                  <a:tcPr/>
                </a:tc>
                <a:extLst>
                  <a:ext uri="{0D108BD9-81ED-4DB2-BD59-A6C34878D82A}">
                    <a16:rowId xmlns:a16="http://schemas.microsoft.com/office/drawing/2014/main" val="1872385614"/>
                  </a:ext>
                </a:extLst>
              </a:tr>
              <a:tr h="588041">
                <a:tc>
                  <a:txBody>
                    <a:bodyPr/>
                    <a:lstStyle/>
                    <a:p>
                      <a:r>
                        <a:rPr lang="en-IN" sz="1600" b="0" i="0" kern="1200" dirty="0">
                          <a:solidFill>
                            <a:schemeClr val="tx1"/>
                          </a:solidFill>
                          <a:effectLst/>
                          <a:latin typeface="+mn-lt"/>
                          <a:ea typeface="+mn-ea"/>
                          <a:cs typeface="+mn-cs"/>
                        </a:rPr>
                        <a:t>IRJMETS, 2023</a:t>
                      </a:r>
                      <a:endParaRPr lang="en-US" sz="1600" dirty="0"/>
                    </a:p>
                  </a:txBody>
                  <a:tcPr/>
                </a:tc>
                <a:tc>
                  <a:txBody>
                    <a:bodyPr/>
                    <a:lstStyle/>
                    <a:p>
                      <a:r>
                        <a:rPr lang="en-US" sz="1300" b="1" i="0" kern="1200" dirty="0">
                          <a:solidFill>
                            <a:schemeClr val="tx1"/>
                          </a:solidFill>
                          <a:effectLst/>
                          <a:latin typeface="+mn-lt"/>
                          <a:ea typeface="+mn-ea"/>
                          <a:cs typeface="+mn-cs"/>
                        </a:rPr>
                        <a:t>Call Center Sentiment Analysis: A Systematic Review</a:t>
                      </a:r>
                      <a:endParaRPr lang="en-US" sz="1300" b="1" dirty="0"/>
                    </a:p>
                  </a:txBody>
                  <a:tcPr/>
                </a:tc>
                <a:tc>
                  <a:txBody>
                    <a:bodyPr/>
                    <a:lstStyle/>
                    <a:p>
                      <a:r>
                        <a:rPr lang="en-IN" sz="1600" b="0" i="0" kern="1200" dirty="0" err="1">
                          <a:solidFill>
                            <a:schemeClr val="tx1"/>
                          </a:solidFill>
                          <a:effectLst/>
                          <a:latin typeface="+mn-lt"/>
                          <a:ea typeface="+mn-ea"/>
                          <a:cs typeface="+mn-cs"/>
                        </a:rPr>
                        <a:t>Preprocessing</a:t>
                      </a:r>
                      <a:r>
                        <a:rPr lang="en-IN" sz="1600" b="0" i="0" kern="1200" dirty="0">
                          <a:solidFill>
                            <a:schemeClr val="tx1"/>
                          </a:solidFill>
                          <a:effectLst/>
                          <a:latin typeface="+mn-lt"/>
                          <a:ea typeface="+mn-ea"/>
                          <a:cs typeface="+mn-cs"/>
                        </a:rPr>
                        <a:t> + Naive Bayes</a:t>
                      </a:r>
                      <a:endParaRPr lang="en-US" sz="1600" dirty="0"/>
                    </a:p>
                  </a:txBody>
                  <a:tcPr/>
                </a:tc>
                <a:tc>
                  <a:txBody>
                    <a:bodyPr/>
                    <a:lstStyle/>
                    <a:p>
                      <a:r>
                        <a:rPr lang="en-IN" sz="1600" b="0" i="0" kern="1200" dirty="0">
                          <a:solidFill>
                            <a:schemeClr val="tx1"/>
                          </a:solidFill>
                          <a:effectLst/>
                          <a:latin typeface="+mn-lt"/>
                          <a:ea typeface="+mn-ea"/>
                          <a:cs typeface="+mn-cs"/>
                        </a:rPr>
                        <a:t>Customer-agent audio conversation files</a:t>
                      </a:r>
                      <a:endParaRPr lang="en-US" sz="1600" dirty="0"/>
                    </a:p>
                  </a:txBody>
                  <a:tcPr/>
                </a:tc>
                <a:tc>
                  <a:txBody>
                    <a:bodyPr/>
                    <a:lstStyle/>
                    <a:p>
                      <a:r>
                        <a:rPr lang="en-US" sz="1600" dirty="0"/>
                        <a:t>Recall, F1-Score</a:t>
                      </a:r>
                    </a:p>
                  </a:txBody>
                  <a:tcPr/>
                </a:tc>
                <a:tc>
                  <a:txBody>
                    <a:bodyPr/>
                    <a:lstStyle/>
                    <a:p>
                      <a:r>
                        <a:rPr lang="en-US" sz="1300" b="1" i="0" kern="1200" dirty="0">
                          <a:solidFill>
                            <a:schemeClr val="tx1"/>
                          </a:solidFill>
                          <a:effectLst/>
                          <a:latin typeface="+mn-lt"/>
                          <a:ea typeface="+mn-ea"/>
                          <a:cs typeface="+mn-cs"/>
                        </a:rPr>
                        <a:t>Explores speaker recognition and preprocessing steps</a:t>
                      </a:r>
                      <a:endParaRPr lang="en-US" sz="1300" b="1" dirty="0"/>
                    </a:p>
                  </a:txBody>
                  <a:tcPr/>
                </a:tc>
                <a:tc>
                  <a:txBody>
                    <a:bodyPr/>
                    <a:lstStyle/>
                    <a:p>
                      <a:r>
                        <a:rPr lang="en-US" sz="1300" b="1" i="0" kern="1200" dirty="0">
                          <a:solidFill>
                            <a:schemeClr val="tx1"/>
                          </a:solidFill>
                          <a:effectLst/>
                          <a:latin typeface="+mn-lt"/>
                          <a:ea typeface="+mn-ea"/>
                          <a:cs typeface="+mn-cs"/>
                        </a:rPr>
                        <a:t>Mostly conceptual, lacks real-world results</a:t>
                      </a:r>
                      <a:endParaRPr lang="en-US" sz="1300" b="1" dirty="0"/>
                    </a:p>
                  </a:txBody>
                  <a:tcPr/>
                </a:tc>
                <a:tc>
                  <a:txBody>
                    <a:bodyPr/>
                    <a:lstStyle/>
                    <a:p>
                      <a:r>
                        <a:rPr lang="en-US" sz="1200" b="1" i="0" kern="1200" dirty="0">
                          <a:solidFill>
                            <a:schemeClr val="tx1"/>
                          </a:solidFill>
                          <a:effectLst/>
                          <a:latin typeface="+mn-lt"/>
                          <a:ea typeface="+mn-ea"/>
                          <a:cs typeface="+mn-cs"/>
                        </a:rPr>
                        <a:t>Foundation for future practical implementations</a:t>
                      </a:r>
                      <a:endParaRPr lang="en-US" sz="1200" b="1" dirty="0"/>
                    </a:p>
                  </a:txBody>
                  <a:tcPr/>
                </a:tc>
                <a:extLst>
                  <a:ext uri="{0D108BD9-81ED-4DB2-BD59-A6C34878D82A}">
                    <a16:rowId xmlns:a16="http://schemas.microsoft.com/office/drawing/2014/main" val="2631370956"/>
                  </a:ext>
                </a:extLst>
              </a:tr>
              <a:tr h="504559">
                <a:tc>
                  <a:txBody>
                    <a:bodyPr/>
                    <a:lstStyle/>
                    <a:p>
                      <a:r>
                        <a:rPr lang="en-IN" sz="1600" b="0" i="0" kern="1200" dirty="0">
                          <a:solidFill>
                            <a:schemeClr val="tx1"/>
                          </a:solidFill>
                          <a:effectLst/>
                          <a:latin typeface="+mn-lt"/>
                          <a:ea typeface="+mn-ea"/>
                          <a:cs typeface="+mn-cs"/>
                        </a:rPr>
                        <a:t>Islam et al., 2024</a:t>
                      </a:r>
                      <a:endParaRPr lang="en-US" sz="1600" dirty="0"/>
                    </a:p>
                  </a:txBody>
                  <a:tcPr/>
                </a:tc>
                <a:tc>
                  <a:txBody>
                    <a:bodyPr/>
                    <a:lstStyle/>
                    <a:p>
                      <a:r>
                        <a:rPr lang="en-US" sz="1300" b="1" i="0" kern="1200" dirty="0">
                          <a:solidFill>
                            <a:schemeClr val="tx1"/>
                          </a:solidFill>
                          <a:effectLst/>
                          <a:latin typeface="+mn-lt"/>
                          <a:ea typeface="+mn-ea"/>
                          <a:cs typeface="+mn-cs"/>
                        </a:rPr>
                        <a:t>Enhancing Speech Emotion Recognition Using Deep CNN</a:t>
                      </a:r>
                      <a:endParaRPr lang="en-US" sz="1300" b="1" dirty="0"/>
                    </a:p>
                  </a:txBody>
                  <a:tcPr/>
                </a:tc>
                <a:tc>
                  <a:txBody>
                    <a:bodyPr/>
                    <a:lstStyle/>
                    <a:p>
                      <a:r>
                        <a:rPr lang="en-IN" sz="1600" b="0" i="0" kern="1200" dirty="0">
                          <a:solidFill>
                            <a:schemeClr val="tx1"/>
                          </a:solidFill>
                          <a:effectLst/>
                          <a:latin typeface="+mn-lt"/>
                          <a:ea typeface="+mn-ea"/>
                          <a:cs typeface="+mn-cs"/>
                        </a:rPr>
                        <a:t>CNN, LSTM</a:t>
                      </a:r>
                      <a:endParaRPr lang="en-US" sz="1600" dirty="0"/>
                    </a:p>
                  </a:txBody>
                  <a:tcPr/>
                </a:tc>
                <a:tc>
                  <a:txBody>
                    <a:bodyPr/>
                    <a:lstStyle/>
                    <a:p>
                      <a:r>
                        <a:rPr lang="en-US" sz="1600" b="0" i="0" kern="1200" dirty="0">
                          <a:solidFill>
                            <a:schemeClr val="tx1"/>
                          </a:solidFill>
                          <a:effectLst/>
                          <a:latin typeface="+mn-lt"/>
                          <a:ea typeface="+mn-ea"/>
                          <a:cs typeface="+mn-cs"/>
                        </a:rPr>
                        <a:t>Toronto Emotional Speech Set (TESS)</a:t>
                      </a:r>
                      <a:endParaRPr lang="en-US" sz="1600" dirty="0"/>
                    </a:p>
                  </a:txBody>
                  <a:tcPr/>
                </a:tc>
                <a:tc>
                  <a:txBody>
                    <a:bodyPr/>
                    <a:lstStyle/>
                    <a:p>
                      <a:r>
                        <a:rPr lang="en-US" sz="1600" dirty="0"/>
                        <a:t>Accuracy, Confusion Matrix</a:t>
                      </a:r>
                    </a:p>
                  </a:txBody>
                  <a:tcPr/>
                </a:tc>
                <a:tc>
                  <a:txBody>
                    <a:bodyPr/>
                    <a:lstStyle/>
                    <a:p>
                      <a:r>
                        <a:rPr lang="en-IN" sz="1300" b="1" i="0" kern="1200" dirty="0">
                          <a:solidFill>
                            <a:schemeClr val="tx1"/>
                          </a:solidFill>
                          <a:effectLst/>
                          <a:latin typeface="+mn-lt"/>
                          <a:ea typeface="+mn-ea"/>
                          <a:cs typeface="+mn-cs"/>
                        </a:rPr>
                        <a:t>Effective multi-emotion recognition</a:t>
                      </a:r>
                      <a:endParaRPr lang="en-US" sz="1300" b="1" dirty="0"/>
                    </a:p>
                  </a:txBody>
                  <a:tcPr/>
                </a:tc>
                <a:tc>
                  <a:txBody>
                    <a:bodyPr/>
                    <a:lstStyle/>
                    <a:p>
                      <a:r>
                        <a:rPr lang="en-US" sz="1300" b="1" i="0" kern="1200" dirty="0">
                          <a:solidFill>
                            <a:schemeClr val="tx1"/>
                          </a:solidFill>
                          <a:effectLst/>
                          <a:latin typeface="+mn-lt"/>
                          <a:ea typeface="+mn-ea"/>
                          <a:cs typeface="+mn-cs"/>
                        </a:rPr>
                        <a:t>General-purpose, not call center focused</a:t>
                      </a:r>
                      <a:endParaRPr lang="en-US" sz="1300" b="1" dirty="0"/>
                    </a:p>
                  </a:txBody>
                  <a:tcPr/>
                </a:tc>
                <a:tc>
                  <a:txBody>
                    <a:bodyPr/>
                    <a:lstStyle/>
                    <a:p>
                      <a:r>
                        <a:rPr lang="en-US" sz="1200" b="1" i="0" kern="1200" dirty="0">
                          <a:solidFill>
                            <a:schemeClr val="tx1"/>
                          </a:solidFill>
                          <a:effectLst/>
                          <a:latin typeface="+mn-lt"/>
                          <a:ea typeface="+mn-ea"/>
                          <a:cs typeface="+mn-cs"/>
                        </a:rPr>
                        <a:t>Deep models outperform conventional methods in emotion tasks</a:t>
                      </a:r>
                      <a:endParaRPr lang="en-US" sz="1200" b="1" dirty="0"/>
                    </a:p>
                  </a:txBody>
                  <a:tcPr/>
                </a:tc>
                <a:extLst>
                  <a:ext uri="{0D108BD9-81ED-4DB2-BD59-A6C34878D82A}">
                    <a16:rowId xmlns:a16="http://schemas.microsoft.com/office/drawing/2014/main" val="840776152"/>
                  </a:ext>
                </a:extLst>
              </a:tr>
              <a:tr h="418064">
                <a:tc>
                  <a:txBody>
                    <a:bodyPr/>
                    <a:lstStyle/>
                    <a:p>
                      <a:r>
                        <a:rPr lang="en-IN" sz="1600" b="0" i="0" kern="1200" dirty="0" err="1">
                          <a:solidFill>
                            <a:schemeClr val="tx1"/>
                          </a:solidFill>
                          <a:effectLst/>
                          <a:latin typeface="+mn-lt"/>
                          <a:ea typeface="+mn-ea"/>
                          <a:cs typeface="+mn-cs"/>
                        </a:rPr>
                        <a:t>Sunilkumar</a:t>
                      </a:r>
                      <a:r>
                        <a:rPr lang="en-IN" sz="1600" b="0" i="0" kern="1200" dirty="0">
                          <a:solidFill>
                            <a:schemeClr val="tx1"/>
                          </a:solidFill>
                          <a:effectLst/>
                          <a:latin typeface="+mn-lt"/>
                          <a:ea typeface="+mn-ea"/>
                          <a:cs typeface="+mn-cs"/>
                        </a:rPr>
                        <a:t> et al., 2021</a:t>
                      </a:r>
                      <a:endParaRPr lang="en-US" sz="1600" dirty="0"/>
                    </a:p>
                  </a:txBody>
                  <a:tcPr/>
                </a:tc>
                <a:tc>
                  <a:txBody>
                    <a:bodyPr/>
                    <a:lstStyle/>
                    <a:p>
                      <a:r>
                        <a:rPr lang="en-US" sz="1300" b="1" i="0" kern="1200" dirty="0">
                          <a:solidFill>
                            <a:schemeClr val="tx1"/>
                          </a:solidFill>
                          <a:effectLst/>
                          <a:latin typeface="+mn-lt"/>
                          <a:ea typeface="+mn-ea"/>
                          <a:cs typeface="+mn-cs"/>
                        </a:rPr>
                        <a:t>Speech-based Sentiment Analysis using Combined Deep Models</a:t>
                      </a:r>
                      <a:endParaRPr lang="en-US" sz="1300" b="1" dirty="0"/>
                    </a:p>
                  </a:txBody>
                  <a:tcPr/>
                </a:tc>
                <a:tc>
                  <a:txBody>
                    <a:bodyPr/>
                    <a:lstStyle/>
                    <a:p>
                      <a:r>
                        <a:rPr lang="en-IN" sz="1600" b="0" i="0" kern="1200" dirty="0">
                          <a:solidFill>
                            <a:schemeClr val="tx1"/>
                          </a:solidFill>
                          <a:effectLst/>
                          <a:latin typeface="+mn-lt"/>
                          <a:ea typeface="+mn-ea"/>
                          <a:cs typeface="+mn-cs"/>
                        </a:rPr>
                        <a:t>DNN, CNN</a:t>
                      </a:r>
                      <a:endParaRPr lang="en-US" sz="1600" dirty="0"/>
                    </a:p>
                  </a:txBody>
                  <a:tcPr/>
                </a:tc>
                <a:tc>
                  <a:txBody>
                    <a:bodyPr/>
                    <a:lstStyle/>
                    <a:p>
                      <a:pPr fontAlgn="base" latinLnBrk="0"/>
                      <a:r>
                        <a:rPr lang="en-IN" sz="1600" dirty="0">
                          <a:effectLst/>
                        </a:rPr>
                        <a:t>Customer feedback voice data</a:t>
                      </a:r>
                    </a:p>
                  </a:txBody>
                  <a:tcPr marL="60960" marR="60960" anchor="ctr"/>
                </a:tc>
                <a:tc>
                  <a:txBody>
                    <a:bodyPr/>
                    <a:lstStyle/>
                    <a:p>
                      <a:r>
                        <a:rPr lang="en-US" sz="1600" dirty="0"/>
                        <a:t>F1-Score,</a:t>
                      </a:r>
                    </a:p>
                    <a:p>
                      <a:r>
                        <a:rPr lang="en-US" sz="1600" dirty="0"/>
                        <a:t>Accuracy</a:t>
                      </a:r>
                    </a:p>
                  </a:txBody>
                  <a:tcPr/>
                </a:tc>
                <a:tc>
                  <a:txBody>
                    <a:bodyPr/>
                    <a:lstStyle/>
                    <a:p>
                      <a:r>
                        <a:rPr lang="en-US" sz="1300" b="1" i="0" kern="1200" dirty="0">
                          <a:solidFill>
                            <a:schemeClr val="tx1"/>
                          </a:solidFill>
                          <a:effectLst/>
                          <a:latin typeface="+mn-lt"/>
                          <a:ea typeface="+mn-ea"/>
                          <a:cs typeface="+mn-cs"/>
                        </a:rPr>
                        <a:t>End-to-end audio analysis; improves service quality</a:t>
                      </a:r>
                      <a:endParaRPr lang="en-US" sz="1300" b="1" dirty="0"/>
                    </a:p>
                  </a:txBody>
                  <a:tcPr/>
                </a:tc>
                <a:tc>
                  <a:txBody>
                    <a:bodyPr/>
                    <a:lstStyle/>
                    <a:p>
                      <a:r>
                        <a:rPr lang="en-IN" sz="1300" b="1" i="0" kern="1200" dirty="0">
                          <a:solidFill>
                            <a:schemeClr val="tx1"/>
                          </a:solidFill>
                          <a:effectLst/>
                          <a:latin typeface="+mn-lt"/>
                          <a:ea typeface="+mn-ea"/>
                          <a:cs typeface="+mn-cs"/>
                        </a:rPr>
                        <a:t>Dataset specifics unclear</a:t>
                      </a:r>
                      <a:endParaRPr lang="en-US" sz="1300" b="1" dirty="0"/>
                    </a:p>
                  </a:txBody>
                  <a:tcPr/>
                </a:tc>
                <a:tc>
                  <a:txBody>
                    <a:bodyPr/>
                    <a:lstStyle/>
                    <a:p>
                      <a:r>
                        <a:rPr lang="en-US" sz="1200" b="1" i="0" kern="1200" dirty="0">
                          <a:solidFill>
                            <a:schemeClr val="tx1"/>
                          </a:solidFill>
                          <a:effectLst/>
                          <a:latin typeface="+mn-lt"/>
                          <a:ea typeface="+mn-ea"/>
                          <a:cs typeface="+mn-cs"/>
                        </a:rPr>
                        <a:t>Deep learning enables accurate sentiment on real-world speech</a:t>
                      </a:r>
                      <a:endParaRPr lang="en-US" sz="1200" b="1" dirty="0"/>
                    </a:p>
                  </a:txBody>
                  <a:tcPr/>
                </a:tc>
                <a:extLst>
                  <a:ext uri="{0D108BD9-81ED-4DB2-BD59-A6C34878D82A}">
                    <a16:rowId xmlns:a16="http://schemas.microsoft.com/office/drawing/2014/main" val="3673051702"/>
                  </a:ext>
                </a:extLst>
              </a:tr>
              <a:tr h="418064">
                <a:tc>
                  <a:txBody>
                    <a:bodyPr/>
                    <a:lstStyle/>
                    <a:p>
                      <a:r>
                        <a:rPr lang="en-IN" sz="1600" b="0" i="0" kern="1200" dirty="0">
                          <a:solidFill>
                            <a:schemeClr val="tx1"/>
                          </a:solidFill>
                          <a:effectLst/>
                          <a:latin typeface="+mn-lt"/>
                          <a:ea typeface="+mn-ea"/>
                          <a:cs typeface="+mn-cs"/>
                        </a:rPr>
                        <a:t>Verma et al., 2020</a:t>
                      </a:r>
                      <a:endParaRPr lang="en-US" sz="1600" dirty="0"/>
                    </a:p>
                  </a:txBody>
                  <a:tcPr/>
                </a:tc>
                <a:tc>
                  <a:txBody>
                    <a:bodyPr/>
                    <a:lstStyle/>
                    <a:p>
                      <a:r>
                        <a:rPr lang="en-US" sz="1300" b="1" i="0" kern="1200" dirty="0">
                          <a:solidFill>
                            <a:schemeClr val="tx1"/>
                          </a:solidFill>
                          <a:effectLst/>
                          <a:latin typeface="+mn-lt"/>
                          <a:ea typeface="+mn-ea"/>
                          <a:cs typeface="+mn-cs"/>
                        </a:rPr>
                        <a:t>A Deep Learning System for Sentiment Analysis of Service Calls</a:t>
                      </a:r>
                      <a:endParaRPr lang="en-US" sz="1300" b="1" dirty="0"/>
                    </a:p>
                  </a:txBody>
                  <a:tcPr/>
                </a:tc>
                <a:tc>
                  <a:txBody>
                    <a:bodyPr/>
                    <a:lstStyle/>
                    <a:p>
                      <a:r>
                        <a:rPr lang="en-IN" sz="1600" b="0" i="0" kern="1200" dirty="0">
                          <a:solidFill>
                            <a:schemeClr val="tx1"/>
                          </a:solidFill>
                          <a:effectLst/>
                          <a:latin typeface="+mn-lt"/>
                          <a:ea typeface="+mn-ea"/>
                          <a:cs typeface="+mn-cs"/>
                        </a:rPr>
                        <a:t>Multimodal DL, Acoustic + Text</a:t>
                      </a:r>
                      <a:endParaRPr lang="en-US" sz="1600" dirty="0"/>
                    </a:p>
                  </a:txBody>
                  <a:tcPr/>
                </a:tc>
                <a:tc>
                  <a:txBody>
                    <a:bodyPr/>
                    <a:lstStyle/>
                    <a:p>
                      <a:r>
                        <a:rPr lang="en-IN" sz="1600" b="0" i="0" kern="1200" dirty="0">
                          <a:solidFill>
                            <a:schemeClr val="tx1"/>
                          </a:solidFill>
                          <a:effectLst/>
                          <a:latin typeface="+mn-lt"/>
                          <a:ea typeface="+mn-ea"/>
                          <a:cs typeface="+mn-cs"/>
                        </a:rPr>
                        <a:t>Service call recordings</a:t>
                      </a:r>
                      <a:endParaRPr lang="en-US" sz="1600" dirty="0"/>
                    </a:p>
                  </a:txBody>
                  <a:tcPr/>
                </a:tc>
                <a:tc>
                  <a:txBody>
                    <a:bodyPr/>
                    <a:lstStyle/>
                    <a:p>
                      <a:r>
                        <a:rPr lang="en-US" sz="1600" dirty="0"/>
                        <a:t>Sentiment Score, Recall</a:t>
                      </a:r>
                    </a:p>
                  </a:txBody>
                  <a:tcPr/>
                </a:tc>
                <a:tc>
                  <a:txBody>
                    <a:bodyPr/>
                    <a:lstStyle/>
                    <a:p>
                      <a:r>
                        <a:rPr lang="en-US" sz="1300" b="1" i="0" kern="1200" dirty="0">
                          <a:solidFill>
                            <a:schemeClr val="tx1"/>
                          </a:solidFill>
                          <a:effectLst/>
                          <a:latin typeface="+mn-lt"/>
                          <a:ea typeface="+mn-ea"/>
                          <a:cs typeface="+mn-cs"/>
                        </a:rPr>
                        <a:t>Handles voice + text; detects strong negative sentiment</a:t>
                      </a:r>
                      <a:endParaRPr lang="en-US" sz="1300" b="1" dirty="0"/>
                    </a:p>
                  </a:txBody>
                  <a:tcPr/>
                </a:tc>
                <a:tc>
                  <a:txBody>
                    <a:bodyPr/>
                    <a:lstStyle/>
                    <a:p>
                      <a:r>
                        <a:rPr lang="en-IN" sz="1300" b="1" i="0" kern="1200" dirty="0">
                          <a:solidFill>
                            <a:schemeClr val="tx1"/>
                          </a:solidFill>
                          <a:effectLst/>
                          <a:latin typeface="+mn-lt"/>
                          <a:ea typeface="+mn-ea"/>
                          <a:cs typeface="+mn-cs"/>
                        </a:rPr>
                        <a:t>Focus on negative sentiment</a:t>
                      </a:r>
                      <a:endParaRPr lang="en-US" sz="1300" b="1" dirty="0"/>
                    </a:p>
                  </a:txBody>
                  <a:tcPr/>
                </a:tc>
                <a:tc>
                  <a:txBody>
                    <a:bodyPr/>
                    <a:lstStyle/>
                    <a:p>
                      <a:r>
                        <a:rPr lang="en-IN" sz="1400" b="1" i="0" kern="1200" dirty="0">
                          <a:solidFill>
                            <a:schemeClr val="tx1"/>
                          </a:solidFill>
                          <a:effectLst/>
                          <a:latin typeface="+mn-lt"/>
                          <a:ea typeface="+mn-ea"/>
                          <a:cs typeface="+mn-cs"/>
                        </a:rPr>
                        <a:t>Speaker identification not explored</a:t>
                      </a:r>
                      <a:endParaRPr lang="en-US" sz="1400" b="1" dirty="0"/>
                    </a:p>
                  </a:txBody>
                  <a:tcPr/>
                </a:tc>
                <a:extLst>
                  <a:ext uri="{0D108BD9-81ED-4DB2-BD59-A6C34878D82A}">
                    <a16:rowId xmlns:a16="http://schemas.microsoft.com/office/drawing/2014/main" val="1379505823"/>
                  </a:ext>
                </a:extLst>
              </a:tr>
            </a:tbl>
          </a:graphicData>
        </a:graphic>
      </p:graphicFrame>
    </p:spTree>
    <p:extLst>
      <p:ext uri="{BB962C8B-B14F-4D97-AF65-F5344CB8AC3E}">
        <p14:creationId xmlns:p14="http://schemas.microsoft.com/office/powerpoint/2010/main" val="123186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6349D-43B3-21F0-A3B2-690F4253D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0B55-D7B7-D2E0-6397-4D44F7691212}"/>
              </a:ext>
            </a:extLst>
          </p:cNvPr>
          <p:cNvSpPr>
            <a:spLocks noGrp="1"/>
          </p:cNvSpPr>
          <p:nvPr>
            <p:ph type="title"/>
          </p:nvPr>
        </p:nvSpPr>
        <p:spPr>
          <a:xfrm>
            <a:off x="838200" y="365125"/>
            <a:ext cx="10515600" cy="1079627"/>
          </a:xfrm>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Proposed system:</a:t>
            </a:r>
          </a:p>
        </p:txBody>
      </p:sp>
      <p:sp>
        <p:nvSpPr>
          <p:cNvPr id="4" name="Subtitle 3">
            <a:extLst>
              <a:ext uri="{FF2B5EF4-FFF2-40B4-BE49-F238E27FC236}">
                <a16:creationId xmlns:a16="http://schemas.microsoft.com/office/drawing/2014/main" id="{661A8D90-7F3F-1D67-140E-75F67A5D481F}"/>
              </a:ext>
            </a:extLst>
          </p:cNvPr>
          <p:cNvSpPr>
            <a:spLocks noGrp="1"/>
          </p:cNvSpPr>
          <p:nvPr>
            <p:ph idx="1"/>
          </p:nvPr>
        </p:nvSpPr>
        <p:spPr>
          <a:xfrm>
            <a:off x="838200" y="1380744"/>
            <a:ext cx="10515600" cy="4975605"/>
          </a:xfrm>
        </p:spPr>
        <p:txBody>
          <a:bodyPr>
            <a:normAutofit fontScale="85000" lnSpcReduction="20000"/>
          </a:bodyPr>
          <a:lstStyle/>
          <a:p>
            <a:pPr marL="0" indent="0" algn="l">
              <a:buNone/>
            </a:pPr>
            <a:r>
              <a:rPr lang="en-IN" b="1" i="0" dirty="0">
                <a:effectLst/>
                <a:latin typeface="Aharoni" panose="02010803020104030203" pitchFamily="2" charset="-79"/>
                <a:cs typeface="Aharoni" panose="02010803020104030203" pitchFamily="2" charset="-79"/>
              </a:rPr>
              <a:t>Flow:</a:t>
            </a:r>
          </a:p>
          <a:p>
            <a:pPr marL="742950" lvl="1" indent="-285750" algn="l">
              <a:buFont typeface="Arial" panose="020B0604020202020204" pitchFamily="34" charset="0"/>
              <a:buChar char="•"/>
            </a:pPr>
            <a:r>
              <a:rPr lang="en-IN" sz="2800" b="1" i="0" dirty="0">
                <a:effectLst/>
                <a:latin typeface="Aharoni" panose="02010803020104030203" pitchFamily="2" charset="-79"/>
                <a:cs typeface="Aharoni" panose="02010803020104030203" pitchFamily="2" charset="-79"/>
              </a:rPr>
              <a:t>Audio Input</a:t>
            </a:r>
            <a:r>
              <a:rPr lang="en-IN" sz="2800" b="1" i="0" dirty="0">
                <a:effectLst/>
                <a:latin typeface="Abadi Extra Light" panose="020B0204020104020204" pitchFamily="34" charset="0"/>
              </a:rPr>
              <a:t>: Customer-agent call recordings.</a:t>
            </a:r>
          </a:p>
          <a:p>
            <a:pPr marL="742950" lvl="1" indent="-285750" algn="l">
              <a:buFont typeface="Arial" panose="020B0604020202020204" pitchFamily="34" charset="0"/>
              <a:buChar char="•"/>
            </a:pPr>
            <a:r>
              <a:rPr lang="en-IN" sz="2800" b="1" i="0" dirty="0">
                <a:effectLst/>
                <a:latin typeface="Aharoni" panose="02010803020104030203" pitchFamily="2" charset="-79"/>
                <a:cs typeface="Aharoni" panose="02010803020104030203" pitchFamily="2" charset="-79"/>
              </a:rPr>
              <a:t>ASR Module</a:t>
            </a:r>
            <a:r>
              <a:rPr lang="en-IN" sz="2800" b="1" i="0" dirty="0">
                <a:effectLst/>
                <a:latin typeface="Abadi Extra Light" panose="020B0204020104020204" pitchFamily="34" charset="0"/>
              </a:rPr>
              <a:t>: Converts speech to text using robust models (e.g., Wav2Vec 2.0).</a:t>
            </a:r>
          </a:p>
          <a:p>
            <a:pPr marL="742950" lvl="1" indent="-285750" algn="l">
              <a:buFont typeface="Arial" panose="020B0604020202020204" pitchFamily="34" charset="0"/>
              <a:buChar char="•"/>
            </a:pPr>
            <a:r>
              <a:rPr lang="en-IN" sz="2800" b="1" i="0" dirty="0">
                <a:effectLst/>
                <a:latin typeface="Aharoni" panose="02010803020104030203" pitchFamily="2" charset="-79"/>
                <a:cs typeface="Aharoni" panose="02010803020104030203" pitchFamily="2" charset="-79"/>
              </a:rPr>
              <a:t>NLP Processing</a:t>
            </a:r>
            <a:r>
              <a:rPr lang="en-IN" sz="2800" b="1" i="0" dirty="0">
                <a:effectLst/>
                <a:latin typeface="Abadi Extra Light" panose="020B0204020104020204" pitchFamily="34" charset="0"/>
              </a:rPr>
              <a:t>: Text </a:t>
            </a:r>
            <a:r>
              <a:rPr lang="en-IN" sz="2800" b="1" i="0" dirty="0" err="1">
                <a:effectLst/>
                <a:latin typeface="Abadi Extra Light" panose="020B0204020104020204" pitchFamily="34" charset="0"/>
              </a:rPr>
              <a:t>analyzed</a:t>
            </a:r>
            <a:r>
              <a:rPr lang="en-IN" sz="2800" b="1" i="0" dirty="0">
                <a:effectLst/>
                <a:latin typeface="Abadi Extra Light" panose="020B0204020104020204" pitchFamily="34" charset="0"/>
              </a:rPr>
              <a:t> via transformer-based models (e.g., BERT,</a:t>
            </a:r>
          </a:p>
          <a:p>
            <a:pPr marL="457200" lvl="1" indent="0" algn="l">
              <a:buNone/>
            </a:pPr>
            <a:r>
              <a:rPr lang="en-IN" sz="2800" b="1" dirty="0">
                <a:latin typeface="Abadi Extra Light" panose="020B0204020104020204" pitchFamily="34" charset="0"/>
              </a:rPr>
              <a:t>  </a:t>
            </a:r>
            <a:r>
              <a:rPr lang="en-IN" sz="2800" b="1" i="0" dirty="0">
                <a:effectLst/>
                <a:latin typeface="Abadi Extra Light" panose="020B0204020104020204" pitchFamily="34" charset="0"/>
              </a:rPr>
              <a:t> </a:t>
            </a:r>
            <a:r>
              <a:rPr lang="en-IN" sz="2800" b="1" i="0" dirty="0" err="1">
                <a:effectLst/>
                <a:latin typeface="Abadi Extra Light" panose="020B0204020104020204" pitchFamily="34" charset="0"/>
              </a:rPr>
              <a:t>RoBERTa</a:t>
            </a:r>
            <a:r>
              <a:rPr lang="en-IN" sz="2800" b="1" i="0" dirty="0">
                <a:effectLst/>
                <a:latin typeface="Abadi Extra Light" panose="020B0204020104020204" pitchFamily="34" charset="0"/>
              </a:rPr>
              <a:t>) to classify sentiment and detect context (complaint, support, inquiry).</a:t>
            </a:r>
          </a:p>
          <a:p>
            <a:pPr marL="742950" lvl="1" indent="-285750" algn="l">
              <a:buFont typeface="Arial" panose="020B0604020202020204" pitchFamily="34" charset="0"/>
              <a:buChar char="•"/>
            </a:pPr>
            <a:r>
              <a:rPr lang="en-IN" sz="2800" b="1" i="0" dirty="0">
                <a:effectLst/>
                <a:latin typeface="Aharoni" panose="02010803020104030203" pitchFamily="2" charset="-79"/>
                <a:cs typeface="Aharoni" panose="02010803020104030203" pitchFamily="2" charset="-79"/>
              </a:rPr>
              <a:t>Aggregation</a:t>
            </a:r>
            <a:r>
              <a:rPr lang="en-IN" sz="2800" b="1" i="0" dirty="0">
                <a:effectLst/>
                <a:latin typeface="Abadi Extra Light" panose="020B0204020104020204" pitchFamily="34" charset="0"/>
              </a:rPr>
              <a:t>: Consolidate call-level insights over time, agents, issues, and customers.</a:t>
            </a:r>
          </a:p>
          <a:p>
            <a:pPr marL="742950" lvl="1" indent="-285750" algn="l">
              <a:buFont typeface="Arial" panose="020B0604020202020204" pitchFamily="34" charset="0"/>
              <a:buChar char="•"/>
            </a:pPr>
            <a:r>
              <a:rPr lang="en-IN" sz="2800" b="1" i="0" dirty="0">
                <a:effectLst/>
                <a:latin typeface="Aharoni" panose="02010803020104030203" pitchFamily="2" charset="-79"/>
                <a:cs typeface="Aharoni" panose="02010803020104030203" pitchFamily="2" charset="-79"/>
              </a:rPr>
              <a:t>Dashboard Visualization</a:t>
            </a:r>
            <a:r>
              <a:rPr lang="en-IN" sz="2800" b="1" i="0" dirty="0">
                <a:effectLst/>
                <a:latin typeface="Abadi Extra Light" panose="020B0204020104020204" pitchFamily="34" charset="0"/>
              </a:rPr>
              <a:t>: Present actionable analytics for different users (agent, admin, management).</a:t>
            </a:r>
          </a:p>
          <a:p>
            <a:pPr marL="742950" lvl="1" indent="-285750" algn="l">
              <a:buFont typeface="Arial" panose="020B0604020202020204" pitchFamily="34" charset="0"/>
              <a:buChar char="•"/>
            </a:pPr>
            <a:endParaRPr lang="en-IN" sz="2800" b="1" i="0" dirty="0">
              <a:effectLst/>
              <a:latin typeface="Abadi Extra Light" panose="020B0204020104020204" pitchFamily="34" charset="0"/>
            </a:endParaRPr>
          </a:p>
          <a:p>
            <a:pPr marL="0" indent="0" algn="l">
              <a:buNone/>
            </a:pPr>
            <a:r>
              <a:rPr lang="en-IN" b="1" i="0" dirty="0">
                <a:effectLst/>
                <a:latin typeface="Aharoni" panose="02010803020104030203" pitchFamily="2" charset="-79"/>
                <a:cs typeface="Aharoni" panose="02010803020104030203" pitchFamily="2" charset="-79"/>
              </a:rPr>
              <a:t>Key Features:</a:t>
            </a:r>
          </a:p>
          <a:p>
            <a:pPr algn="l">
              <a:buFont typeface="Arial" panose="020B0604020202020204" pitchFamily="34" charset="0"/>
              <a:buChar char="•"/>
            </a:pPr>
            <a:r>
              <a:rPr lang="en-IN" b="1" i="0" dirty="0">
                <a:effectLst/>
                <a:latin typeface="Abadi Extra Light" panose="020B0204020104020204" pitchFamily="34" charset="0"/>
              </a:rPr>
              <a:t>Process 100% of calls for unbiased analytics.</a:t>
            </a:r>
          </a:p>
          <a:p>
            <a:pPr algn="l">
              <a:buFont typeface="Arial" panose="020B0604020202020204" pitchFamily="34" charset="0"/>
              <a:buChar char="•"/>
            </a:pPr>
            <a:r>
              <a:rPr lang="en-IN" b="1" i="0" dirty="0">
                <a:effectLst/>
                <a:latin typeface="Abadi Extra Light" panose="020B0204020104020204" pitchFamily="34" charset="0"/>
              </a:rPr>
              <a:t>Detect nuanced sentiment, emotion, and conversational context.</a:t>
            </a:r>
          </a:p>
          <a:p>
            <a:pPr algn="l">
              <a:buFont typeface="Arial" panose="020B0604020202020204" pitchFamily="34" charset="0"/>
              <a:buChar char="•"/>
            </a:pPr>
            <a:r>
              <a:rPr lang="en-IN" b="1" i="0" dirty="0">
                <a:effectLst/>
                <a:latin typeface="Abadi Extra Light" panose="020B0204020104020204" pitchFamily="34" charset="0"/>
              </a:rPr>
              <a:t>Real-time performance feedback loops for agents.</a:t>
            </a:r>
          </a:p>
          <a:p>
            <a:pPr algn="l"/>
            <a:endParaRPr lang="en-US" sz="3600" b="1"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E04D7D12-55D0-DC87-AEEA-B4E26DE82DF5}"/>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92D34665-6955-A47E-144F-614CEEDD59C4}"/>
              </a:ext>
            </a:extLst>
          </p:cNvPr>
          <p:cNvSpPr>
            <a:spLocks noGrp="1"/>
          </p:cNvSpPr>
          <p:nvPr>
            <p:ph type="sldNum" sz="quarter" idx="12"/>
          </p:nvPr>
        </p:nvSpPr>
        <p:spPr/>
        <p:txBody>
          <a:bodyPr/>
          <a:lstStyle/>
          <a:p>
            <a:fld id="{F4FD428E-0A98-4D0E-8808-F32CC50EFAE5}" type="slidenum">
              <a:rPr lang="en-US" smtClean="0"/>
              <a:t>11</a:t>
            </a:fld>
            <a:endParaRPr lang="en-US"/>
          </a:p>
        </p:txBody>
      </p:sp>
    </p:spTree>
    <p:extLst>
      <p:ext uri="{BB962C8B-B14F-4D97-AF65-F5344CB8AC3E}">
        <p14:creationId xmlns:p14="http://schemas.microsoft.com/office/powerpoint/2010/main" val="2586539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56A18-68AB-0800-6A6F-32B88791A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4B50B-61B2-09BA-6851-78158DC73CA0}"/>
              </a:ext>
            </a:extLst>
          </p:cNvPr>
          <p:cNvSpPr>
            <a:spLocks noGrp="1"/>
          </p:cNvSpPr>
          <p:nvPr>
            <p:ph type="title"/>
          </p:nvPr>
        </p:nvSpPr>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Proposed system: Technique and methods used</a:t>
            </a:r>
          </a:p>
        </p:txBody>
      </p:sp>
      <p:sp>
        <p:nvSpPr>
          <p:cNvPr id="4" name="Subtitle 3">
            <a:extLst>
              <a:ext uri="{FF2B5EF4-FFF2-40B4-BE49-F238E27FC236}">
                <a16:creationId xmlns:a16="http://schemas.microsoft.com/office/drawing/2014/main" id="{61A36BEB-244D-3C17-6988-5928CA5D7104}"/>
              </a:ext>
            </a:extLst>
          </p:cNvPr>
          <p:cNvSpPr>
            <a:spLocks noGrp="1"/>
          </p:cNvSpPr>
          <p:nvPr>
            <p:ph idx="1"/>
          </p:nvPr>
        </p:nvSpPr>
        <p:spPr/>
        <p:txBody>
          <a:bodyPr>
            <a:normAutofit/>
          </a:bodyPr>
          <a:lstStyle/>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Speech Recognition</a:t>
            </a:r>
            <a:r>
              <a:rPr lang="en-US" sz="2400" b="1" i="0" dirty="0">
                <a:effectLst/>
                <a:latin typeface="Abadi Extra Light" panose="020B0204020104020204" pitchFamily="34" charset="0"/>
              </a:rPr>
              <a:t>: State-of-the-art deep learning models like Wav2Vec 2.0 or </a:t>
            </a:r>
            <a:r>
              <a:rPr lang="en-US" sz="2400" b="1" i="0" dirty="0" err="1">
                <a:effectLst/>
                <a:latin typeface="Abadi Extra Light" panose="020B0204020104020204" pitchFamily="34" charset="0"/>
              </a:rPr>
              <a:t>DeepSpeech</a:t>
            </a:r>
            <a:r>
              <a:rPr lang="en-US" sz="2400" b="1" i="0" dirty="0">
                <a:effectLst/>
                <a:latin typeface="Abadi Extra Light" panose="020B0204020104020204" pitchFamily="34" charset="0"/>
              </a:rPr>
              <a:t> for robust transcription.</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Sentiment Analysis: </a:t>
            </a:r>
            <a:r>
              <a:rPr lang="en-US" sz="2400" b="1" i="0" dirty="0">
                <a:effectLst/>
                <a:latin typeface="Abadi Extra Light" panose="020B0204020104020204" pitchFamily="34" charset="0"/>
              </a:rPr>
              <a:t>Transformer-based models fine-tuned on call center datasets for customer service language.</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Emotion &amp; Context Classification</a:t>
            </a:r>
            <a:r>
              <a:rPr lang="en-US" sz="2400" b="1" i="0" dirty="0">
                <a:effectLst/>
                <a:latin typeface="Abadi Extra Light" panose="020B0204020104020204" pitchFamily="34" charset="0"/>
              </a:rPr>
              <a:t>: Use of multi-modal features (tone, pace, keywords) and advanced neural networks.</a:t>
            </a:r>
          </a:p>
          <a:p>
            <a:pPr algn="l">
              <a:buFont typeface="Arial" panose="020B0604020202020204" pitchFamily="34" charset="0"/>
              <a:buChar char="•"/>
            </a:pPr>
            <a:r>
              <a:rPr lang="en-US" sz="2400" b="1" i="0" dirty="0">
                <a:effectLst/>
                <a:latin typeface="Aharoni" panose="02010803020104030203" pitchFamily="2" charset="-79"/>
                <a:cs typeface="Aharoni" panose="02010803020104030203" pitchFamily="2" charset="-79"/>
              </a:rPr>
              <a:t>Visualization: </a:t>
            </a:r>
            <a:r>
              <a:rPr lang="en-US" sz="2400" b="1" i="0" dirty="0">
                <a:effectLst/>
                <a:latin typeface="Abadi Extra Light" panose="020B0204020104020204" pitchFamily="34" charset="0"/>
              </a:rPr>
              <a:t>Interactive dashboard built with modern frameworks (e.g., Dash, React) to present KPIs and trends.</a:t>
            </a:r>
          </a:p>
          <a:p>
            <a:pPr algn="l"/>
            <a:endParaRPr lang="en-US" sz="3600" b="1" dirty="0">
              <a:latin typeface="Abadi Extra Light" panose="020B0204020104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496AF96-D170-BCF7-3177-BC1613EDD2B0}"/>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7F43971D-29B7-7583-4FD7-FC035E3023E3}"/>
              </a:ext>
            </a:extLst>
          </p:cNvPr>
          <p:cNvSpPr>
            <a:spLocks noGrp="1"/>
          </p:cNvSpPr>
          <p:nvPr>
            <p:ph type="sldNum" sz="quarter" idx="12"/>
          </p:nvPr>
        </p:nvSpPr>
        <p:spPr/>
        <p:txBody>
          <a:bodyPr/>
          <a:lstStyle/>
          <a:p>
            <a:fld id="{F4FD428E-0A98-4D0E-8808-F32CC50EFAE5}" type="slidenum">
              <a:rPr lang="en-US" smtClean="0"/>
              <a:t>12</a:t>
            </a:fld>
            <a:endParaRPr lang="en-US"/>
          </a:p>
        </p:txBody>
      </p:sp>
    </p:spTree>
    <p:extLst>
      <p:ext uri="{BB962C8B-B14F-4D97-AF65-F5344CB8AC3E}">
        <p14:creationId xmlns:p14="http://schemas.microsoft.com/office/powerpoint/2010/main" val="3595144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26149-1E9C-208C-0F2B-9611093B8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9E181-C926-4A82-6F7C-CC07442E1A4F}"/>
              </a:ext>
            </a:extLst>
          </p:cNvPr>
          <p:cNvSpPr>
            <a:spLocks noGrp="1"/>
          </p:cNvSpPr>
          <p:nvPr>
            <p:ph type="title"/>
          </p:nvPr>
        </p:nvSpPr>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Conclusion</a:t>
            </a:r>
          </a:p>
        </p:txBody>
      </p:sp>
      <p:sp>
        <p:nvSpPr>
          <p:cNvPr id="4" name="Subtitle 3">
            <a:extLst>
              <a:ext uri="{FF2B5EF4-FFF2-40B4-BE49-F238E27FC236}">
                <a16:creationId xmlns:a16="http://schemas.microsoft.com/office/drawing/2014/main" id="{3D27600D-A614-7427-6908-D76EB125C206}"/>
              </a:ext>
            </a:extLst>
          </p:cNvPr>
          <p:cNvSpPr>
            <a:spLocks noGrp="1"/>
          </p:cNvSpPr>
          <p:nvPr>
            <p:ph idx="1"/>
          </p:nvPr>
        </p:nvSpPr>
        <p:spPr/>
        <p:txBody>
          <a:bodyPr>
            <a:normAutofit/>
          </a:bodyPr>
          <a:lstStyle/>
          <a:p>
            <a:pPr algn="l">
              <a:buFont typeface="Arial" panose="020B0604020202020204" pitchFamily="34" charset="0"/>
              <a:buChar char="•"/>
            </a:pPr>
            <a:r>
              <a:rPr lang="en-US" sz="2400" b="1" i="0" dirty="0">
                <a:effectLst/>
                <a:latin typeface="Abadi Extra Light" panose="020B0204020104020204" pitchFamily="34" charset="0"/>
              </a:rPr>
              <a:t>Fully implemented system capable of analyzing real customer-agent conversations.</a:t>
            </a:r>
          </a:p>
          <a:p>
            <a:pPr algn="l">
              <a:buFont typeface="Arial" panose="020B0604020202020204" pitchFamily="34" charset="0"/>
              <a:buChar char="•"/>
            </a:pPr>
            <a:r>
              <a:rPr lang="en-US" sz="2400" b="1" i="0" dirty="0">
                <a:effectLst/>
                <a:latin typeface="Abadi Extra Light" panose="020B0204020104020204" pitchFamily="34" charset="0"/>
              </a:rPr>
              <a:t>Automated classification of sentiment and call context.</a:t>
            </a:r>
          </a:p>
          <a:p>
            <a:pPr algn="l">
              <a:buFont typeface="Arial" panose="020B0604020202020204" pitchFamily="34" charset="0"/>
              <a:buChar char="•"/>
            </a:pPr>
            <a:r>
              <a:rPr lang="en-US" sz="2400" b="1" i="0" dirty="0">
                <a:effectLst/>
                <a:latin typeface="Abadi Extra Light" panose="020B0204020104020204" pitchFamily="34" charset="0"/>
              </a:rPr>
              <a:t>Actionable dashboards with drilldown capabilities for agents/admins.</a:t>
            </a:r>
          </a:p>
          <a:p>
            <a:pPr algn="l">
              <a:buFont typeface="Arial" panose="020B0604020202020204" pitchFamily="34" charset="0"/>
              <a:buChar char="•"/>
            </a:pPr>
            <a:r>
              <a:rPr lang="en-US" sz="2400" b="1" i="0" dirty="0">
                <a:effectLst/>
                <a:latin typeface="Abadi Extra Light" panose="020B0204020104020204" pitchFamily="34" charset="0"/>
              </a:rPr>
              <a:t>Empirical evidence of improved efficiency and insight over current manual processes.</a:t>
            </a:r>
          </a:p>
        </p:txBody>
      </p:sp>
      <p:sp>
        <p:nvSpPr>
          <p:cNvPr id="3" name="Footer Placeholder 2">
            <a:extLst>
              <a:ext uri="{FF2B5EF4-FFF2-40B4-BE49-F238E27FC236}">
                <a16:creationId xmlns:a16="http://schemas.microsoft.com/office/drawing/2014/main" id="{82AE278A-9EF4-69AB-6D3D-C8D0DEB34ED5}"/>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DFE4775B-E58E-8B95-C092-90D9A5C2E9ED}"/>
              </a:ext>
            </a:extLst>
          </p:cNvPr>
          <p:cNvSpPr>
            <a:spLocks noGrp="1"/>
          </p:cNvSpPr>
          <p:nvPr>
            <p:ph type="sldNum" sz="quarter" idx="12"/>
          </p:nvPr>
        </p:nvSpPr>
        <p:spPr/>
        <p:txBody>
          <a:bodyPr/>
          <a:lstStyle/>
          <a:p>
            <a:fld id="{F4FD428E-0A98-4D0E-8808-F32CC50EFAE5}" type="slidenum">
              <a:rPr lang="en-US" smtClean="0"/>
              <a:t>13</a:t>
            </a:fld>
            <a:endParaRPr lang="en-US"/>
          </a:p>
        </p:txBody>
      </p:sp>
    </p:spTree>
    <p:extLst>
      <p:ext uri="{BB962C8B-B14F-4D97-AF65-F5344CB8AC3E}">
        <p14:creationId xmlns:p14="http://schemas.microsoft.com/office/powerpoint/2010/main" val="350274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22921-87AE-93DC-1C47-C6B11184E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1A43A-6EE0-0E5A-9A86-6C512620A728}"/>
              </a:ext>
            </a:extLst>
          </p:cNvPr>
          <p:cNvSpPr>
            <a:spLocks noGrp="1"/>
          </p:cNvSpPr>
          <p:nvPr>
            <p:ph type="title"/>
          </p:nvPr>
        </p:nvSpPr>
        <p:spPr>
          <a:xfrm>
            <a:off x="838200" y="136525"/>
            <a:ext cx="10515600" cy="648272"/>
          </a:xfrm>
        </p:spPr>
        <p:txBody>
          <a:bodyPr>
            <a:normAutofit/>
          </a:bodyPr>
          <a:lstStyle/>
          <a:p>
            <a:pPr algn="l"/>
            <a:r>
              <a:rPr lang="en-US" sz="4000" b="1" dirty="0">
                <a:solidFill>
                  <a:srgbClr val="002060"/>
                </a:solidFill>
                <a:latin typeface="Times New Roman" panose="02020603050405020304" pitchFamily="18" charset="0"/>
                <a:ea typeface="+mn-ea"/>
                <a:cs typeface="Times New Roman" panose="02020603050405020304" pitchFamily="18" charset="0"/>
              </a:rPr>
              <a:t>References</a:t>
            </a:r>
          </a:p>
        </p:txBody>
      </p:sp>
      <p:sp>
        <p:nvSpPr>
          <p:cNvPr id="4" name="Subtitle 3">
            <a:extLst>
              <a:ext uri="{FF2B5EF4-FFF2-40B4-BE49-F238E27FC236}">
                <a16:creationId xmlns:a16="http://schemas.microsoft.com/office/drawing/2014/main" id="{4C8B3432-0853-5AA4-7CF8-929C12443F2F}"/>
              </a:ext>
            </a:extLst>
          </p:cNvPr>
          <p:cNvSpPr>
            <a:spLocks noGrp="1"/>
          </p:cNvSpPr>
          <p:nvPr>
            <p:ph idx="1"/>
          </p:nvPr>
        </p:nvSpPr>
        <p:spPr>
          <a:xfrm>
            <a:off x="911352" y="1057528"/>
            <a:ext cx="10515600" cy="5132959"/>
          </a:xfrm>
        </p:spPr>
        <p:txBody>
          <a:bodyPr>
            <a:normAutofit fontScale="92500"/>
          </a:bodyPr>
          <a:lstStyle/>
          <a:p>
            <a:pPr algn="l">
              <a:buFont typeface="+mj-lt"/>
              <a:buAutoNum type="arabicPeriod"/>
            </a:pPr>
            <a:r>
              <a:rPr lang="en-IN" sz="2400" b="1" i="0" dirty="0">
                <a:effectLst/>
                <a:latin typeface="Abadi Extra Light" panose="020B0204020104020204" pitchFamily="34" charset="0"/>
              </a:rPr>
              <a:t>Ezzat, A., Faris, S., &amp; Hammad, M. (2012). "Sentiment Analysis of Call Centre Audio Conversations using Text."</a:t>
            </a:r>
            <a:br>
              <a:rPr lang="en-IN" sz="2400" b="1" i="0" dirty="0">
                <a:effectLst/>
                <a:latin typeface="Abadi Extra Light" panose="020B0204020104020204" pitchFamily="34" charset="0"/>
              </a:rPr>
            </a:br>
            <a:r>
              <a:rPr lang="en-IN" sz="2400" b="1" i="0" dirty="0">
                <a:effectLst/>
                <a:latin typeface="Abadi Extra Light" panose="020B0204020104020204" pitchFamily="34" charset="0"/>
              </a:rPr>
              <a:t>In 2012 International Conference on Innovations in Information Technology (IIT). IEEE.</a:t>
            </a:r>
          </a:p>
          <a:p>
            <a:pPr algn="l">
              <a:buFont typeface="+mj-lt"/>
              <a:buAutoNum type="arabicPeriod"/>
            </a:pPr>
            <a:r>
              <a:rPr lang="en-IN" sz="2400" b="1" i="0" dirty="0">
                <a:effectLst/>
                <a:latin typeface="Abadi Extra Light" panose="020B0204020104020204" pitchFamily="34" charset="0"/>
              </a:rPr>
              <a:t>IRJMETS (2023). "Call </a:t>
            </a:r>
            <a:r>
              <a:rPr lang="en-IN" sz="2400" b="1" i="0" dirty="0" err="1">
                <a:effectLst/>
                <a:latin typeface="Abadi Extra Light" panose="020B0204020104020204" pitchFamily="34" charset="0"/>
              </a:rPr>
              <a:t>Center</a:t>
            </a:r>
            <a:r>
              <a:rPr lang="en-IN" sz="2400" b="1" i="0" dirty="0">
                <a:effectLst/>
                <a:latin typeface="Abadi Extra Light" panose="020B0204020104020204" pitchFamily="34" charset="0"/>
              </a:rPr>
              <a:t> Sentiment Analysis: A Systematic Review."</a:t>
            </a:r>
            <a:br>
              <a:rPr lang="en-IN" sz="2400" b="1" i="0" dirty="0">
                <a:effectLst/>
                <a:latin typeface="Abadi Extra Light" panose="020B0204020104020204" pitchFamily="34" charset="0"/>
              </a:rPr>
            </a:br>
            <a:r>
              <a:rPr lang="en-IN" sz="2400" b="1" i="0" dirty="0">
                <a:effectLst/>
                <a:latin typeface="Abadi Extra Light" panose="020B0204020104020204" pitchFamily="34" charset="0"/>
              </a:rPr>
              <a:t>International Research Journal of Modernization in Engineering Technology and Science, 5(2), 1249-1253.</a:t>
            </a:r>
          </a:p>
          <a:p>
            <a:pPr algn="l">
              <a:buFont typeface="+mj-lt"/>
              <a:buAutoNum type="arabicPeriod"/>
            </a:pPr>
            <a:r>
              <a:rPr lang="en-IN" sz="2400" b="1" i="0" dirty="0">
                <a:effectLst/>
                <a:latin typeface="Abadi Extra Light" panose="020B0204020104020204" pitchFamily="34" charset="0"/>
              </a:rPr>
              <a:t>Islam, M.Z., Rahman, M., Siddique, M.A.B., et al. (2024). "Enhancing Speech Emotion Recognition Using Deep Convolutional Neural Networks."</a:t>
            </a:r>
            <a:br>
              <a:rPr lang="en-IN" sz="2400" b="1" i="0" dirty="0">
                <a:effectLst/>
                <a:latin typeface="Abadi Extra Light" panose="020B0204020104020204" pitchFamily="34" charset="0"/>
              </a:rPr>
            </a:br>
            <a:r>
              <a:rPr lang="en-IN" sz="2400" b="1" i="0" dirty="0">
                <a:effectLst/>
                <a:latin typeface="Abadi Extra Light" panose="020B0204020104020204" pitchFamily="34" charset="0"/>
              </a:rPr>
              <a:t>In 2024 International Conference on Computer Communication and Informatics (ICCCI), IEEE.</a:t>
            </a:r>
          </a:p>
          <a:p>
            <a:pPr algn="l">
              <a:buFont typeface="+mj-lt"/>
              <a:buAutoNum type="arabicPeriod"/>
            </a:pPr>
            <a:r>
              <a:rPr lang="en-IN" sz="2400" b="1" i="0" dirty="0" err="1">
                <a:effectLst/>
                <a:latin typeface="Abadi Extra Light" panose="020B0204020104020204" pitchFamily="34" charset="0"/>
              </a:rPr>
              <a:t>Sunilkumar</a:t>
            </a:r>
            <a:r>
              <a:rPr lang="en-IN" sz="2400" b="1" i="0" dirty="0">
                <a:effectLst/>
                <a:latin typeface="Abadi Extra Light" panose="020B0204020104020204" pitchFamily="34" charset="0"/>
              </a:rPr>
              <a:t>, S., Kumar, P., &amp; Kulkarni, T. (2021). "Speech-based Sentiment Analysis using Combined Deep Models."</a:t>
            </a:r>
            <a:br>
              <a:rPr lang="en-IN" sz="2400" b="1" i="0" dirty="0">
                <a:effectLst/>
                <a:latin typeface="Abadi Extra Light" panose="020B0204020104020204" pitchFamily="34" charset="0"/>
              </a:rPr>
            </a:br>
            <a:r>
              <a:rPr lang="en-IN" sz="2400" b="1" i="0" dirty="0">
                <a:effectLst/>
                <a:latin typeface="Abadi Extra Light" panose="020B0204020104020204" pitchFamily="34" charset="0"/>
              </a:rPr>
              <a:t>In 2021 6th International Conference for Convergence in Technology (I2CT), IEEE.</a:t>
            </a:r>
          </a:p>
          <a:p>
            <a:pPr algn="l">
              <a:buFont typeface="+mj-lt"/>
              <a:buAutoNum type="arabicPeriod"/>
            </a:pPr>
            <a:r>
              <a:rPr lang="en-IN" sz="2400" b="1" i="0" dirty="0">
                <a:effectLst/>
                <a:latin typeface="Abadi Extra Light" panose="020B0204020104020204" pitchFamily="34" charset="0"/>
              </a:rPr>
              <a:t>Verma, R., </a:t>
            </a:r>
            <a:r>
              <a:rPr lang="en-IN" sz="2400" b="1" i="0" dirty="0" err="1">
                <a:effectLst/>
                <a:latin typeface="Abadi Extra Light" panose="020B0204020104020204" pitchFamily="34" charset="0"/>
              </a:rPr>
              <a:t>Sahu</a:t>
            </a:r>
            <a:r>
              <a:rPr lang="en-IN" sz="2400" b="1" i="0" dirty="0">
                <a:effectLst/>
                <a:latin typeface="Abadi Extra Light" panose="020B0204020104020204" pitchFamily="34" charset="0"/>
              </a:rPr>
              <a:t>, R., &amp; Behera, H.S. (2020). "A Deep Learning System for Sentiment Analysis of Service Calls."</a:t>
            </a:r>
            <a:br>
              <a:rPr lang="en-IN" sz="2400" b="1" i="0" dirty="0">
                <a:effectLst/>
                <a:latin typeface="Abadi Extra Light" panose="020B0204020104020204" pitchFamily="34" charset="0"/>
              </a:rPr>
            </a:br>
            <a:r>
              <a:rPr lang="en-IN" sz="2400" b="1" i="0" dirty="0">
                <a:effectLst/>
                <a:latin typeface="Abadi Extra Light" panose="020B0204020104020204" pitchFamily="34" charset="0"/>
              </a:rPr>
              <a:t>In Materials Today: Proceedings, Volume 33, 2020, Pages 490-496.</a:t>
            </a:r>
          </a:p>
          <a:p>
            <a:pPr algn="l"/>
            <a:endParaRPr lang="en-US" sz="3600" b="1" dirty="0">
              <a:latin typeface="Abadi Extra Light" panose="020B020402010402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C480B6D1-F9E2-FA01-A018-971EE80C93CA}"/>
              </a:ext>
            </a:extLst>
          </p:cNvPr>
          <p:cNvSpPr>
            <a:spLocks noGrp="1"/>
          </p:cNvSpPr>
          <p:nvPr>
            <p:ph type="ftr" sz="quarter" idx="11"/>
          </p:nvPr>
        </p:nvSpPr>
        <p:spPr/>
        <p:txBody>
          <a:bodyPr/>
          <a:lstStyle/>
          <a:p>
            <a:r>
              <a:rPr lang="en-US"/>
              <a:t>Department of AI &amp; DS</a:t>
            </a:r>
          </a:p>
        </p:txBody>
      </p:sp>
      <p:sp>
        <p:nvSpPr>
          <p:cNvPr id="5" name="Slide Number Placeholder 4">
            <a:extLst>
              <a:ext uri="{FF2B5EF4-FFF2-40B4-BE49-F238E27FC236}">
                <a16:creationId xmlns:a16="http://schemas.microsoft.com/office/drawing/2014/main" id="{A93C7A3D-C4C7-87EC-0E6E-F767591ACED1}"/>
              </a:ext>
            </a:extLst>
          </p:cNvPr>
          <p:cNvSpPr>
            <a:spLocks noGrp="1"/>
          </p:cNvSpPr>
          <p:nvPr>
            <p:ph type="sldNum" sz="quarter" idx="12"/>
          </p:nvPr>
        </p:nvSpPr>
        <p:spPr/>
        <p:txBody>
          <a:bodyPr/>
          <a:lstStyle/>
          <a:p>
            <a:fld id="{F4FD428E-0A98-4D0E-8808-F32CC50EFAE5}" type="slidenum">
              <a:rPr lang="en-US" smtClean="0"/>
              <a:t>14</a:t>
            </a:fld>
            <a:endParaRPr lang="en-US"/>
          </a:p>
        </p:txBody>
      </p:sp>
    </p:spTree>
    <p:extLst>
      <p:ext uri="{BB962C8B-B14F-4D97-AF65-F5344CB8AC3E}">
        <p14:creationId xmlns:p14="http://schemas.microsoft.com/office/powerpoint/2010/main" val="4060344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TotalTime>
  <Words>1481</Words>
  <Application>Microsoft Office PowerPoint</Application>
  <PresentationFormat>Widescreen</PresentationFormat>
  <Paragraphs>173</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Abadi Extra Light</vt:lpstr>
      <vt:lpstr>Aharoni</vt:lpstr>
      <vt:lpstr>Arial</vt:lpstr>
      <vt:lpstr>Calibri</vt:lpstr>
      <vt:lpstr>Calibri Light</vt:lpstr>
      <vt:lpstr>fkGroteskNeue</vt:lpstr>
      <vt:lpstr>Lucida Bright</vt:lpstr>
      <vt:lpstr>Times New Roman</vt:lpstr>
      <vt:lpstr>Office Theme</vt:lpstr>
      <vt:lpstr> Voice-Based Sentiment and Context Analysis System for Call Center Performance and Trend Monitoring</vt:lpstr>
      <vt:lpstr>Agenda</vt:lpstr>
      <vt:lpstr>Domain of the Project:</vt:lpstr>
      <vt:lpstr>Why we chosen this domain? Relate the domain with your project</vt:lpstr>
      <vt:lpstr>Problem Statement</vt:lpstr>
      <vt:lpstr>Scope of the project</vt:lpstr>
      <vt:lpstr>Project Objective:</vt:lpstr>
      <vt:lpstr>Existing system &amp; Technique used</vt:lpstr>
      <vt:lpstr>Drawbacks of existing system</vt:lpstr>
      <vt:lpstr>PowerPoint Presentation</vt:lpstr>
      <vt:lpstr>Proposed system:</vt:lpstr>
      <vt:lpstr>Proposed system: Technique and methods used</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Voice-Based Sentiment and Context Analysis System for Call Center Performance and Trend Monitoring</dc:title>
  <dc:creator>user</dc:creator>
  <cp:lastModifiedBy>Sham Ganesh S</cp:lastModifiedBy>
  <cp:revision>14</cp:revision>
  <dcterms:created xsi:type="dcterms:W3CDTF">2025-07-12T06:44:56Z</dcterms:created>
  <dcterms:modified xsi:type="dcterms:W3CDTF">2025-07-22T12:50:56Z</dcterms:modified>
</cp:coreProperties>
</file>