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8" r:id="rId3"/>
    <p:sldId id="260" r:id="rId4"/>
    <p:sldId id="258" r:id="rId5"/>
    <p:sldId id="273" r:id="rId6"/>
    <p:sldId id="278" r:id="rId7"/>
    <p:sldId id="299" r:id="rId8"/>
    <p:sldId id="272" r:id="rId9"/>
    <p:sldId id="300" r:id="rId10"/>
    <p:sldId id="290" r:id="rId11"/>
    <p:sldId id="274" r:id="rId12"/>
    <p:sldId id="287" r:id="rId13"/>
    <p:sldId id="288" r:id="rId14"/>
    <p:sldId id="285" r:id="rId15"/>
    <p:sldId id="291" r:id="rId16"/>
    <p:sldId id="297" r:id="rId17"/>
    <p:sldId id="298" r:id="rId18"/>
    <p:sldId id="28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DB9D7D-3905-4287-BBBD-2EDCEB7AC386}">
          <p14:sldIdLst>
            <p14:sldId id="257"/>
            <p14:sldId id="268"/>
            <p14:sldId id="260"/>
            <p14:sldId id="258"/>
            <p14:sldId id="273"/>
            <p14:sldId id="278"/>
            <p14:sldId id="299"/>
            <p14:sldId id="272"/>
            <p14:sldId id="300"/>
            <p14:sldId id="290"/>
            <p14:sldId id="274"/>
            <p14:sldId id="287"/>
            <p14:sldId id="288"/>
            <p14:sldId id="285"/>
            <p14:sldId id="291"/>
          </p14:sldIdLst>
        </p14:section>
        <p14:section name="Untitled Section" id="{0DA8635C-F541-472E-997C-9F62BB03E8AD}">
          <p14:sldIdLst>
            <p14:sldId id="297"/>
            <p14:sldId id="298"/>
            <p14:sldId id="28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2094-6799-4822-B1CE-24D976329CB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21AD7-4908-405F-AE65-968B72D6C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1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3C58-8AFB-6F14-507C-27B4CB98B2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54989" y="2437994"/>
            <a:ext cx="9144000" cy="1240899"/>
          </a:xfrm>
        </p:spPr>
        <p:txBody>
          <a:bodyPr anchor="b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Phase – I: ___ Review</a:t>
            </a:r>
            <a:br>
              <a:rPr lang="en-US" dirty="0"/>
            </a:br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02131-A0B8-AFE6-5BD1-CFA0AA490C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3999" y="4026556"/>
            <a:ext cx="9144000" cy="204643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Team Members:					Guided By:</a:t>
            </a:r>
          </a:p>
          <a:p>
            <a:r>
              <a:rPr lang="en-US" dirty="0"/>
              <a:t>1. Name of the Team Member: Register Number			Name of the Guide</a:t>
            </a:r>
          </a:p>
          <a:p>
            <a:r>
              <a:rPr lang="en-US" dirty="0"/>
              <a:t>2. 							Designation</a:t>
            </a:r>
          </a:p>
          <a:p>
            <a:r>
              <a:rPr lang="en-US" dirty="0"/>
              <a:t>3. 							Name of the Guide</a:t>
            </a:r>
          </a:p>
          <a:p>
            <a:r>
              <a:rPr lang="en-US" dirty="0"/>
              <a:t>4.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A6184-1008-CF42-BC03-60E10F0A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CA594-890C-40F3-8C87-97BC4235583B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2114E-039A-9992-6275-4F4C219C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58DA5-1CD0-6523-CC09-48C59FC4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DCBFC018-0CC9-106F-57BE-19C3E05A47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57200" y="274968"/>
            <a:ext cx="10896600" cy="1510640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55E836D-FD71-DD1F-7044-486CE0972D1E}"/>
              </a:ext>
            </a:extLst>
          </p:cNvPr>
          <p:cNvSpPr txBox="1">
            <a:spLocks/>
          </p:cNvSpPr>
          <p:nvPr userDrawn="1"/>
        </p:nvSpPr>
        <p:spPr>
          <a:xfrm>
            <a:off x="1126668" y="1460124"/>
            <a:ext cx="9938663" cy="9074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latin typeface="Lucida Bright" panose="02040602050505020304" pitchFamily="18" charset="0"/>
              </a:rPr>
              <a:t>Department of Artificial Intelligence and Data Science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6A25BE1-9306-A037-1F81-9CCA99E01121}"/>
              </a:ext>
            </a:extLst>
          </p:cNvPr>
          <p:cNvSpPr txBox="1">
            <a:spLocks/>
          </p:cNvSpPr>
          <p:nvPr userDrawn="1"/>
        </p:nvSpPr>
        <p:spPr>
          <a:xfrm>
            <a:off x="1454989" y="2432639"/>
            <a:ext cx="9144000" cy="625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3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2402-2840-8FD5-C492-C0452F6B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35268-7814-7BCC-7E33-6948E818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8F4C-7A18-497D-8ABE-09253DD29F08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8C4E2-579A-CCE2-1192-60262178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5609F-B2E2-ADAC-6FB4-CB329EF6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9409-A497-1A77-4A52-40CA9F05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8A058-3C12-8224-F699-3E46E3AF6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0D51-5615-29BB-3A72-97A76FE7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536E-6D42-42F9-8867-7CBF1DF3DB5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5E011-CEB3-5798-93CD-2D640DF9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4119-3F50-85B2-414A-12682F1F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8A70-742B-B312-566C-A8B8F4501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767E8-F1DA-83E8-F258-5A2BC55A3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BC2E5-DF35-12A0-12BD-1FF6EE08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7FFC-4D90-4102-9F19-0FC75913ECB5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AB700-5056-B68C-2B25-3C6B001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64639-3250-E001-CE85-54A86C12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A5EE6-D5DF-125D-47D2-C17B1E64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A10C-DF9E-67C4-03EB-BA5D590D7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BEEE5-84D3-DBA2-10C5-DF9D1FAB5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69101-348C-E4A6-A32A-792ECE2F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560-693C-4040-8B9C-4F4FC7C24656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E8D85-E54F-2694-63F8-6D3EE57F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F3EE3-85DC-E898-ABBF-63B7E1FC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2D5D-FCBF-E93B-7E28-FE192CC0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95C16-8EE8-9832-C34B-D3ADDD91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ACDE6-651C-F74D-418B-474C1EC24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D533C-649A-6159-D81A-F29EA2CF7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7207F-FF7B-CF09-4303-05387CDC4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75B76-BEAC-3EEE-4098-662F76B9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F23-AAA4-4E1D-96FB-9512CAF558B3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A29EC-ECCA-C122-F9F5-3B4C14A5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447AA-801A-1E9D-6DD5-2973DD36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9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C257-9F85-4591-E831-EC185C55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D0CB8-7C65-DFC4-E0FF-1111CEF6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93FF-3CEE-4A89-83E0-A75F67F2B5B4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4359A-BB80-5D40-E63B-5101AE82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2C9F5-5719-0BC6-3A95-4D95C8EB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8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DD8A0-F057-73DC-65BE-A11EC717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7CEB7-7334-4894-A800-AC33320D8861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D7CBE-A367-5011-23AE-8A2C5AA6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2D0B8-C45C-E61C-BED5-590333D0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8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2DDB-B3AF-D093-A810-8F07D48B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5A51-FDE8-FB76-E4D1-1A23EC7D6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3AAE6-5809-367C-BE5A-04FA6DD79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88B92-B04E-E961-D017-E0B45253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A052-5C84-42D6-B021-419A5CBD28F0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CA031-C918-B2CE-2B0E-7E38C5F6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4D07D-0EC5-6115-030B-696C1081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9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B6E4-72AA-A233-5E43-B617522C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9DDD3-8BA8-CC65-EF9A-4B8011427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1FC01-549E-70D0-8E3C-AEF86DCF5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71113-D8DE-6511-B3BA-2243AE24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D0F9E-4A51-421A-AFCA-F8011D706036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BC11C-3C58-A6F4-9C62-312EFE27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F3EEA-BC14-2B8C-6106-65AC4B93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5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B9D2-94F9-B89E-C960-5E838988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6A331-EE3E-48C2-8CFD-3CDA556F4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72B32-2CD5-128B-18D7-C6D112E3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93DD-EC77-444F-AECE-18B735539E21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2A92F-5051-39B4-9DAD-DF931C9F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66F87-DDFE-F3CC-5B62-93537DF9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64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D402B-AB5D-772A-9A85-6DA8EAB9C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5DED1-4492-D8A5-7B32-40F4A19CF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BA6F3-17DE-B6E3-EBA1-21C7AF8E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8DF4E-A63E-483E-877F-73A61D18A80C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2BB5B-FC09-2F70-1F69-79AB4F1B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6B8DE-7E79-4B07-141D-B5ADA5D0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73636-6191-4CFA-0B58-E861F564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24ADD-C62D-C11E-FA59-6CCC3919B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0CD15-35BA-1AB3-16DB-8AFE15D44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2A951-B553-49B4-9563-B574A8C82774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BCB2E-9DC4-EBFA-3C1B-6D4EB17CC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 &amp; 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A37A3-126E-62CF-F9FA-5666C0FC9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D428E-0A98-4D0E-8808-F32CC50EF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3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409A-82F8-B2A1-842F-4444F672F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56" y="2755509"/>
            <a:ext cx="9144000" cy="112937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Project Phase – II: Review I</a:t>
            </a:r>
            <a:br>
              <a:rPr lang="en-US" dirty="0"/>
            </a:br>
            <a:r>
              <a:rPr lang="en-US" b="0" i="0" dirty="0">
                <a:effectLst/>
              </a:rPr>
              <a:t>Voice-Based Sentiment and Context Analysis System for Call Center Performance and Trend Monitoring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3C037-7523-9768-0CCB-AC408DD43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656" y="4026556"/>
            <a:ext cx="10954511" cy="20464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Year/Sem/Sec: IV/VIII/A				</a:t>
            </a:r>
            <a:r>
              <a:rPr lang="en-US" dirty="0" err="1"/>
              <a:t>Batch_No</a:t>
            </a:r>
            <a:r>
              <a:rPr lang="en-US" dirty="0"/>
              <a:t>: 1</a:t>
            </a:r>
          </a:p>
          <a:p>
            <a:r>
              <a:rPr lang="en-US" b="1" dirty="0"/>
              <a:t>Team Members:</a:t>
            </a:r>
            <a:r>
              <a:rPr lang="en-US" dirty="0"/>
              <a:t>					</a:t>
            </a:r>
            <a:r>
              <a:rPr lang="en-US" b="1" dirty="0"/>
              <a:t>Guided By:</a:t>
            </a:r>
          </a:p>
          <a:p>
            <a:r>
              <a:rPr lang="en-US" dirty="0"/>
              <a:t>1. Sam Daniel </a:t>
            </a:r>
            <a:r>
              <a:rPr lang="en-US" dirty="0" err="1"/>
              <a:t>Vincy</a:t>
            </a:r>
            <a:r>
              <a:rPr lang="en-US" dirty="0"/>
              <a:t>: 22UAI088			</a:t>
            </a:r>
            <a:r>
              <a:rPr lang="en-US" b="1" dirty="0"/>
              <a:t>Name of the Guide: </a:t>
            </a:r>
            <a:r>
              <a:rPr lang="en-US" dirty="0" err="1"/>
              <a:t>Dr.J</a:t>
            </a:r>
            <a:r>
              <a:rPr lang="en-US" dirty="0"/>
              <a:t>.  </a:t>
            </a:r>
            <a:r>
              <a:rPr lang="en-US" dirty="0" err="1"/>
              <a:t>Madhusudanan</a:t>
            </a:r>
            <a:endParaRPr lang="en-US" dirty="0"/>
          </a:p>
          <a:p>
            <a:r>
              <a:rPr lang="en-US" dirty="0"/>
              <a:t>2. Sham Ganesh: 22UAI095				</a:t>
            </a:r>
            <a:r>
              <a:rPr lang="en-US" b="1" dirty="0"/>
              <a:t>Designation: </a:t>
            </a:r>
            <a:r>
              <a:rPr lang="en-US" dirty="0"/>
              <a:t>Professor &amp; Head of the Department, AI &amp; DS</a:t>
            </a:r>
          </a:p>
          <a:p>
            <a:r>
              <a:rPr lang="en-US" dirty="0"/>
              <a:t>3. </a:t>
            </a:r>
            <a:r>
              <a:rPr lang="en-US" dirty="0" err="1"/>
              <a:t>Kiruba</a:t>
            </a:r>
            <a:r>
              <a:rPr lang="en-US" dirty="0"/>
              <a:t>: 22UAI055				</a:t>
            </a:r>
            <a:r>
              <a:rPr lang="en-US" b="1" dirty="0"/>
              <a:t>Name of the College:</a:t>
            </a:r>
            <a:r>
              <a:rPr lang="en-US" dirty="0"/>
              <a:t> SMVEC</a:t>
            </a:r>
          </a:p>
          <a:p>
            <a:r>
              <a:rPr lang="en-US" dirty="0"/>
              <a:t>4. Saravanan: 22UAI090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DAB21-1474-B45B-BBF0-F8C50F39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Artificial Intelligence and 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FDBD7-5A84-4BD6-6DBB-A6693F12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43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C0F3-7BFE-6A94-A4EA-0832BBF9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97DB-4FDE-F947-4858-53CB6145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81ECE-E182-4B66-7D1B-9F1B8C31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74745-20CC-BF0B-CAA3-235E71F6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804FC5-DD59-0B83-C9F8-590C4AF8E3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7993"/>
            <a:ext cx="1071981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centers generate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 of conversations daily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Supervisors cannot manually monitor every call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&amp; escalation risk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rely mostly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transcripts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ignoring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tone, prosody, and audio signals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ML models act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 boxes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lack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actionable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Need: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explainable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+ 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emotion, sentiment, and escalation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80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DB22-0313-8B2C-012B-063A9AB6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EAF90-CBB7-D210-5104-04A0A42D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38495-7EFA-E59C-B0C3-EC921FE0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5041EC-13C2-0B52-0C1B-A3B0C537E1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75354"/>
            <a:ext cx="107877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(audio + text).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 and sentiment recognition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 &amp; gating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outputs → modality attention, per-class contributions.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supervisors (escalations, negative tone).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foundation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cross-call trend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(Marathon Layer).</a:t>
            </a:r>
          </a:p>
        </p:txBody>
      </p:sp>
    </p:spTree>
    <p:extLst>
      <p:ext uri="{BB962C8B-B14F-4D97-AF65-F5344CB8AC3E}">
        <p14:creationId xmlns:p14="http://schemas.microsoft.com/office/powerpoint/2010/main" val="398141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096C-02BF-CADD-7BD5-625C7856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397B-CB6F-7BCA-FF25-FAB331EA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843310"/>
            <a:ext cx="10515600" cy="80753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Domain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 the Project: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B4E260A-2270-8DC9-2349-50B2AF8F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35488"/>
            <a:ext cx="10515600" cy="6889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Speech Analytics in Customer Service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DAC39-A01F-6C03-3655-31A07DDA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AI &amp; 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05FB-F128-24E7-B8C9-B21ED490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FD428E-0A98-4D0E-8808-F32CC50EFA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B74E4E-B292-48F7-3718-4398EA71DE33}"/>
              </a:ext>
            </a:extLst>
          </p:cNvPr>
          <p:cNvSpPr txBox="1">
            <a:spLocks/>
          </p:cNvSpPr>
          <p:nvPr/>
        </p:nvSpPr>
        <p:spPr>
          <a:xfrm>
            <a:off x="990600" y="323279"/>
            <a:ext cx="10515600" cy="80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Domain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 the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0030A464-C08E-E9AD-BC52-9D1FDE9A5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72556"/>
            <a:ext cx="10860024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(Text):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 embeddings from transcripts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Longformer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Processing (Audio):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 features (MFCC, wav2vec2) for tone/prosody.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 text + audio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&amp; gating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Interpret predictions through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visualization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turn-level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later extended to trend forecasting.</a:t>
            </a:r>
          </a:p>
        </p:txBody>
      </p:sp>
    </p:spTree>
    <p:extLst>
      <p:ext uri="{BB962C8B-B14F-4D97-AF65-F5344CB8AC3E}">
        <p14:creationId xmlns:p14="http://schemas.microsoft.com/office/powerpoint/2010/main" val="387707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5FAD-332B-2384-21F0-F0A481E9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6357-BCF9-ED5C-277F-91C057AD8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-25241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Architecture/System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32F70-8AC5-B740-6EC2-AA394E48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959D9-CB8C-2B8C-68FE-312919E1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5</a:t>
            </a:fld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51BAEBD-47B3-39DE-A978-ECC6FF803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249" y="1073150"/>
            <a:ext cx="8866207" cy="5022653"/>
          </a:xfrm>
        </p:spPr>
      </p:pic>
    </p:spTree>
    <p:extLst>
      <p:ext uri="{BB962C8B-B14F-4D97-AF65-F5344CB8AC3E}">
        <p14:creationId xmlns:p14="http://schemas.microsoft.com/office/powerpoint/2010/main" val="103387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214C-0F33-FF2E-5F36-18E9BA33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6FA8-80CC-FD33-900E-DD0A381B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239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Architecture/System Model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0BC6C23-EE5B-B166-B18D-55F09A369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184"/>
            <a:ext cx="10515600" cy="53841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1: High-level Framework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Call audio stream.</a:t>
            </a:r>
          </a:p>
          <a:p>
            <a:pPr lvl="1">
              <a:lnSpc>
                <a:spcPct val="15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Audio/Text pipelines.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Layer (real-time analysis).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Marathon Layer (trend analysis).</a:t>
            </a:r>
          </a:p>
          <a:p>
            <a:pPr>
              <a:lnSpc>
                <a:spcPct val="150000"/>
              </a:lnSpc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2: Sprint Layer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(wav2vec2 +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(Cross-attention + gating).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Classifiers (Emotion, Sentiment).</a:t>
            </a:r>
          </a:p>
          <a:p>
            <a:pPr marL="0" indent="0" algn="l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E71CA-C52C-0621-ED27-BE85940DE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0F0AC-A179-AF85-E811-CA476A46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3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9A93-269B-6551-2E1F-195D78FF0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CF49-0DEF-E28A-E678-17D69D1F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239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Architecture/System Model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41EEA65-E3A7-E247-7641-38165E9C7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184"/>
            <a:ext cx="10515600" cy="53841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3: XAI &amp; Call Summary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visualization (audio vs text).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Per-class modality analysis.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Call-level summaries.</a:t>
            </a:r>
          </a:p>
          <a:p>
            <a:pPr>
              <a:lnSpc>
                <a:spcPct val="150000"/>
              </a:lnSpc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4: Marathon Layer 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store → LSTM/Transformer trend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(burnout, escalation).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dashboard integration.</a:t>
            </a: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8C3F89-4222-892E-66C2-2A7687B4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69AF4-0C22-854E-7873-EA56F789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9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A34B-5DD5-2720-31C8-D3B9E446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0052-0D77-6C37-4A17-26391729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648"/>
            <a:ext cx="10515600" cy="62998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Modules Explanation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B4C4F7-7F85-E00D-A9AF-E8B88B0B0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4"/>
            <a:ext cx="10515600" cy="483120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 Cleaning &amp; Alignment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 filler words, normalize text, and align dialogue transcripts with the corresponding audio clips in the MELD dataset.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Utterance Segmentation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Break down  conversations into turn-level utterances to ensure text and audio inputs are synchronized for multimodal processing.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Embeddings (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Extract semantic representations from utterances, capturing context and sentiment cues from dialogue.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Embeddings (Wav2Vec2)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Encode speech signals into feature-rich vectors, capturing tone, prosody, and acoustic markers of emotion.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75DA4-AC59-B94D-6E99-BD552363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65903-8C2A-C9E5-219C-610B688D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4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F825-188E-5870-8F14-74DB503A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2FB3-A247-52F5-B739-C5239778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648"/>
            <a:ext cx="10515600" cy="62998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Modules Explanation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0849549-03AE-6D02-87B6-0798F258A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4"/>
            <a:ext cx="10515600" cy="483120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Model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 Mechanism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Learn relationships between audio and text by allowing each modality to attend to features from the other.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Gating Mechanism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Dynamically weigh contributions from audio vs. text, improving robustness when one modality is noisy or ambiguous.</a:t>
            </a:r>
          </a:p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 utterance-level polarity (Positive, Neutral, Negative) from fused multimodal embeddings.</a:t>
            </a:r>
          </a:p>
          <a:p>
            <a:pPr lvl="1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Classifier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nuanced emotional states (e.g., Anger, Joy, Sadness, Neutral, Surprise, Fear, Disgust) from integrated features.</a:t>
            </a:r>
          </a:p>
          <a:p>
            <a:pPr lvl="1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41000-0EC7-F430-12E5-64CD7CAA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64FE2-D0AA-15AD-4B2B-C4A506D1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9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C0BDB-8427-3000-5468-6CDF3BB6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B510-E087-B6E8-8E5D-DAC9C9BF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502"/>
            <a:ext cx="10515600" cy="593408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Modules Explanation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F6C703-8B5A-6E46-6ED5-C7CD9DA26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67256"/>
            <a:ext cx="11179629" cy="470169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(Explainable AI)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Visualization per Utterance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Highlight which words or audio segments influenced model predictions.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Class-Specific Explanations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 modality-level contributions for each class (e.g., “anger detected due to high pitch + negative wording”).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Summaries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Turn-Level Reports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Summarize each speaker’s utterance with predicted sentiment/emotion, highlighting critical conversational shifts.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Escalation Risk Detection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Flag conversations with negative or escalating emotions for proactive intervention.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A8B19-B285-0721-7638-E97FA5A1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30804-7924-2F03-8DFB-C9830C9E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FD428E-0A98-4D0E-8808-F32CC50EFA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79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68E-03F4-5591-4927-5BBB2159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D3CD-8334-5B04-7AC8-E7289A4F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Algorithm/Technique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A5F75F9-F67B-1AFB-3885-BF8C38CC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270"/>
            <a:ext cx="10515600" cy="500107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Random Forest Classifier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Cross-Attention + Gated Fusion Classifier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utterances AAA (speech signals from MELD dataset)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transcripts TTT (dialogue transcripts from MELD dataset)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Sentiment class ∈ {Positive, Neutral, Negative}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Emotion class ∈ {Anger, Joy, Sadness, Neutral, Surprise, Fear, Disgust}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scores (for XAI visualization)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A55C-D2BA-5CDF-371F-164C6238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1FE9D-658A-7B18-71CB-F1AE3408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96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0ECC5-F6C7-BF33-2A13-3DAC7716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352"/>
            <a:ext cx="10515600" cy="564661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Input Representation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Pass audio utterance AAA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Extract audio embeddings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EaE_aEa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1.2 Pass transcript TTT through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Extract text embeddings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EtE_tEt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Shared Latent Projection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Project both embeddings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Ea,EtE_a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E_tEa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​,Et​ into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latent space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alignment.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Cross-Attention Mechanism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Compute attention from audio → text (which audio cues influence text meaning).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3.2 Compute attention from text → audio (which words align with acoustic cues).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Gated Fusion &amp; Attention Reweighting</a:t>
            </a:r>
            <a:br>
              <a:rPr lang="en-IN" sz="1600" dirty="0"/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Combine embeddings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gating mechanism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(dynamic weighting of modalities).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4.2 Apply attention reweighting to refine feature importance.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07DFE-002C-23B4-BC4D-CA14243D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C1B84-F5B7-28C8-CA75-39D5C736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98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41B95-E7C7-4D51-C6F8-30055E4B2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064"/>
            <a:ext cx="10515600" cy="56648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Classification Layers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Pass fused representation into shared dense layers.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 Branch into two classifiers: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3-class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(Positive, Neutral, Negative)</a:t>
            </a:r>
          </a:p>
          <a:p>
            <a:pPr lvl="1"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Classifier: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7-class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(Anger, Joy, Sadness, Neutral, Surprise, Fear, Disgust)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(XAI)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Extract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weights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utterance and per modality.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6.2 Visualize important words, audio segments, and class-level explanations.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25719-7DD0-1D07-CF47-61BB27B6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4EA3B-CB41-859A-C5D5-9CCB557E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9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337C-E3E9-C4EE-91E9-DA6AD362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1DB7-C817-4509-96F4-9CCB1274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8F174E5-7618-3F8A-62BE-A08FEDB58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00"/>
            <a:ext cx="10515600" cy="4812919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Advantages</a:t>
            </a:r>
          </a:p>
          <a:p>
            <a:pPr lvl="0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Integration (Audio + Text):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both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(prosody, stress, emotion cues)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(semantic content).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Leads to higher accuracy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&amp; emotion classification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unimodal baselines.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Attention-Based Fusion: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importance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modalities dynamically.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against noisy transcripts or unclear audio → improved consistency in results.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for Transparent Predictions: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visualizations highlight critical words &amp; acoustic cues.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trust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supports actionable feedback in call analysis.</a:t>
            </a:r>
          </a:p>
          <a:p>
            <a:pPr marL="0" indent="0">
              <a:buNone/>
            </a:pP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E5C3A-1B50-9A12-B716-1D5CC1EC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AE856-DBFD-D3B1-913A-976EF700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FD428E-0A98-4D0E-8808-F32CC50EFA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171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337C-E3E9-C4EE-91E9-DA6AD362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1DB7-C817-4509-96F4-9CCB1274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8F174E5-7618-3F8A-62BE-A08FEDB58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00"/>
            <a:ext cx="10515600" cy="4812919"/>
          </a:xfrm>
        </p:spPr>
        <p:txBody>
          <a:bodyPr>
            <a:norm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 &amp; Research Novelty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turn-level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live call centers.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escalation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intervention during customer interactions.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Extensible to Marathon Layer (Trend Analysis):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single calls → can analyze trends across multiple sessions.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emotional trajectory tracking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Novelty: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combination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 fusion + gated weighting + XAI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each module’s contribution to overall system performance.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E5C3A-1B50-9A12-B716-1D5CC1EC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AE856-DBFD-D3B1-913A-976EF700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FD428E-0A98-4D0E-8808-F32CC50EFA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818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AECB-8542-85B0-4FDF-65A24413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5B9A-944A-E47B-FF39-99009D1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 &amp; Discussion – Sprint Layer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7E83F5-6D61-FB78-BBC7-83E94F0A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Superiority: 81.3% accuracy (Text: 75.2%, Audio: 64.8%) — 6.1% improvement over text-only, 16.5% over audio-only baseline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Classification Results: Anger 85%/82% (precision/recall), Neutral 88%/87%, Joy 78%/76%, Sadness 72%/70%; Sentiment: Negative 84%/83%, Positive 80%/79%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Performance: 145ms inference per utterance (target &lt;600ms), 6.9 utterances/sec, GPU-efficient (Tesla T4), batch process 1000 calls in ~2 minutes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Validated: Consistent accuracy across all metrics; real-time capability confirmed; production deployment ready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CE942-0B62-B34E-3AD4-A9202E50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DB150-3ADE-7FE7-5650-DFAC6389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7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B1CD-3DF2-5D87-F6C6-7843FDA3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E9D5-5CD8-F896-A01D-177063FE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Results &amp; Discussion – Marathon Layer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1F0ADF4-6A38-E249-7544-25D9C4D4B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Cross-Call &amp; Agent Analytics: 500+ conversations aggregated (87% pattern reliability), 45 agents tracked over 4 weeks, 79% escalation risk prediction, AUC-ROC 0.82 burnout prediction (14-day)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Dataset Integration: CREMA-D (7,585) + IEMOCAP (10,039) + MELD (13,000) + 200 real call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calls validated; 768-dim audio + 768-dim text → 1,536-dim → attention → 256-dim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Attention Mechanism: Audio attention 35-75% weight range; Text 25-65%; Sarcasm triggers 2.3x audio attention; emotion-specific modality weighting demonstrated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Detection &amp; Forecasting: Weekly sentiment variation (±5%) detected accurately; recurring issue identification 87% accuracy; agent performance correlation with sentiment (r=0.71)</a:t>
            </a: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43265-B878-D07B-7E29-702EC812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5F1AB-CFDA-1821-9CA2-30A3B628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36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44B5-40D2-8CA2-153C-A3E12373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A6D9-10C4-99BA-6E5F-ED7B62CD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EC7FC67-243C-9509-63D9-43D71D66C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Development: Two-layer (Sprint + Marathon) multimodal with hierarchical attention, integrated explainable AI, end-to-end pipeline from audio to actionable insights, production-grade architecture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Performance: 81.3% accuracy (5.9% improvement), 145ms real-time inference, 79% at 70dB noise, 100+ concurrent calls, 50K records/hour throughput; exceeds all production requirements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&amp; Trust: 94% supervisor comprehension, 96.3% decision traceback, attention visualizations, regulatory audit trails, bias detection; enables stakeholder confidence and compliance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Validation &amp; Documentation: 200 real calls across diverse scenarios, stable performance, outperforms human baseline; Phase-1 &amp; Phase-2 reports, reproducible code, deployment guides for enterprise adoption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3209BD-CA4F-0018-A546-A8524355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38203-A560-F033-AA30-1A7BF98F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75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2921-87AE-93DC-1C47-C6B11184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A43A-6EE0-0E5A-9A86-6C512620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4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C8B3432-0853-5AA4-7CF8-929C12443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919472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H. Wang, J. Li, S. Xu, and M. Deng,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MultiModalNet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Attention-Gated Fusion for Multimodal Emotion Recognition," in Proceedings of International Conference on Affective Computing and Intelligent Interaction (ACII), 2024, pp. 1245-1258.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A. Gupta, V. Patel, and T. Rai, "Audio-Text Fusion with Explainable AI for Call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Analytics," in Proceedings of IEEE International Conference on Acoustics, Speech, and Signal Processing (ICASSP), 2024, pp. 3891-3905.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S. Zhang, R. Liu, and Y. Chen, "Quality-Controlled Multimodal Emotion Recognition in Conversation Using MELD and IEMOCAP Datasets,"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arXiv:2511.14969, 2025.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K. Patel and S. Sharma, "Speech Emotion Recognition Using Attention Gate Enhancement Mechanisms," IEEE Transactions on Affective Computing, vol. 15, no. 4, pp. 892-906,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N. Kumar, A. Singh, and P. Verma, "Enhanced Speech Emotion Understanding Using Advanced Attention-Centric Convolutional Networks," Biomedical Signal Processing and Control, vol. 98, pp. 106142, 2025.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0B6D1-F9E2-FA01-A018-971EE80C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 &amp; 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C7A3D-C4C7-87EC-0E6E-F767591A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D428E-0A98-4D0E-8808-F32CC50EFA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44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1925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Lucida Bright</vt:lpstr>
      <vt:lpstr>Times New Roman</vt:lpstr>
      <vt:lpstr>Office Theme</vt:lpstr>
      <vt:lpstr> Project Phase – II: Review I Voice-Based Sentiment and Context Analysis System for Call Center Performance and Trend Monitoring</vt:lpstr>
      <vt:lpstr>Problem Statement</vt:lpstr>
      <vt:lpstr>Project Objective:</vt:lpstr>
      <vt:lpstr>Domain of the Project:</vt:lpstr>
      <vt:lpstr>System Architecture/System Model</vt:lpstr>
      <vt:lpstr>System Architecture/System Model</vt:lpstr>
      <vt:lpstr>System Architecture/System Model</vt:lpstr>
      <vt:lpstr>Modules Explanation </vt:lpstr>
      <vt:lpstr>Modules Explanation </vt:lpstr>
      <vt:lpstr>Modules Explanation </vt:lpstr>
      <vt:lpstr>Algorithm/Technique</vt:lpstr>
      <vt:lpstr>PowerPoint Presentation</vt:lpstr>
      <vt:lpstr>PowerPoint Presentation</vt:lpstr>
      <vt:lpstr>Advantages of the proposed system</vt:lpstr>
      <vt:lpstr>Advantages of the proposed system</vt:lpstr>
      <vt:lpstr>Results &amp; Discussion – Sprint Layer</vt:lpstr>
      <vt:lpstr>Results &amp; Discussion – Marathon Layer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Phase – I: Review - III Voice-Based Sentiment and Context Analysis System for Call Center Performance and Trend Monitoring</dc:title>
  <dc:creator>user</dc:creator>
  <cp:lastModifiedBy>Tamilselvan .M</cp:lastModifiedBy>
  <cp:revision>37</cp:revision>
  <dcterms:created xsi:type="dcterms:W3CDTF">2025-07-12T06:44:56Z</dcterms:created>
  <dcterms:modified xsi:type="dcterms:W3CDTF">2025-12-29T04:25:42Z</dcterms:modified>
</cp:coreProperties>
</file>