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67" r:id="rId3"/>
    <p:sldId id="258" r:id="rId4"/>
    <p:sldId id="259" r:id="rId5"/>
    <p:sldId id="268" r:id="rId6"/>
    <p:sldId id="269" r:id="rId7"/>
    <p:sldId id="260" r:id="rId8"/>
    <p:sldId id="262" r:id="rId9"/>
    <p:sldId id="263" r:id="rId10"/>
    <p:sldId id="270" r:id="rId11"/>
    <p:sldId id="276" r:id="rId12"/>
    <p:sldId id="277" r:id="rId13"/>
    <p:sldId id="264" r:id="rId14"/>
    <p:sldId id="265" r:id="rId15"/>
    <p:sldId id="272" r:id="rId16"/>
    <p:sldId id="273" r:id="rId17"/>
    <p:sldId id="274" r:id="rId18"/>
    <p:sldId id="275" r:id="rId19"/>
    <p:sldId id="266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82094-6799-4822-B1CE-24D976329CBA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821AD7-4908-405F-AE65-968B72D6C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816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33C58-8AFB-6F14-507C-27B4CB98B2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54989" y="2437994"/>
            <a:ext cx="9144000" cy="1240899"/>
          </a:xfrm>
        </p:spPr>
        <p:txBody>
          <a:bodyPr anchor="b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Phase – I: ___ Review</a:t>
            </a:r>
            <a:br>
              <a:rPr lang="en-US" dirty="0"/>
            </a:br>
            <a:r>
              <a:rPr lang="en-US" dirty="0"/>
              <a:t>Project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02131-A0B8-AFE6-5BD1-CFA0AA490C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3999" y="4026556"/>
            <a:ext cx="9144000" cy="204643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Team Members:					Guided By:</a:t>
            </a:r>
          </a:p>
          <a:p>
            <a:r>
              <a:rPr lang="en-US" dirty="0"/>
              <a:t>1. Name of the Team Member: Register Number			Name of the Guide</a:t>
            </a:r>
          </a:p>
          <a:p>
            <a:r>
              <a:rPr lang="en-US" dirty="0"/>
              <a:t>2. 							Designation</a:t>
            </a:r>
          </a:p>
          <a:p>
            <a:r>
              <a:rPr lang="en-US" dirty="0"/>
              <a:t>3. 							Name of the Guide</a:t>
            </a:r>
          </a:p>
          <a:p>
            <a:r>
              <a:rPr lang="en-US" dirty="0"/>
              <a:t>4.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A6184-1008-CF42-BC03-60E10F0A1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CA594-890C-40F3-8C87-97BC4235583B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2114E-039A-9992-6275-4F4C219C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 &amp; 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58DA5-1CD0-6523-CC09-48C59FC42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Image 1">
            <a:extLst>
              <a:ext uri="{FF2B5EF4-FFF2-40B4-BE49-F238E27FC236}">
                <a16:creationId xmlns:a16="http://schemas.microsoft.com/office/drawing/2014/main" id="{DCBFC018-0CC9-106F-57BE-19C3E05A472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57200" y="274968"/>
            <a:ext cx="10896600" cy="1510640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55E836D-FD71-DD1F-7044-486CE0972D1E}"/>
              </a:ext>
            </a:extLst>
          </p:cNvPr>
          <p:cNvSpPr txBox="1">
            <a:spLocks/>
          </p:cNvSpPr>
          <p:nvPr userDrawn="1"/>
        </p:nvSpPr>
        <p:spPr>
          <a:xfrm>
            <a:off x="1126668" y="1460124"/>
            <a:ext cx="9938663" cy="9074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solidFill>
                  <a:schemeClr val="accent4">
                    <a:lumMod val="75000"/>
                  </a:schemeClr>
                </a:solidFill>
                <a:latin typeface="Lucida Bright" panose="02040602050505020304" pitchFamily="18" charset="0"/>
              </a:rPr>
              <a:t>Department of Artificial Intelligence and Data Science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6A25BE1-9306-A037-1F81-9CCA99E01121}"/>
              </a:ext>
            </a:extLst>
          </p:cNvPr>
          <p:cNvSpPr txBox="1">
            <a:spLocks/>
          </p:cNvSpPr>
          <p:nvPr userDrawn="1"/>
        </p:nvSpPr>
        <p:spPr>
          <a:xfrm>
            <a:off x="1454989" y="2432639"/>
            <a:ext cx="9144000" cy="625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139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B2402-2840-8FD5-C492-C0452F6B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935268-7814-7BCC-7E33-6948E8180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8F4C-7A18-497D-8ABE-09253DD29F08}" type="datetime1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18C4E2-579A-CCE2-1192-60262178F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C5609F-B2E2-ADAC-6FB4-CB329EF6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B9409-A497-1A77-4A52-40CA9F05D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8A058-3C12-8224-F699-3E46E3AF6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70D51-5615-29BB-3A72-97A76FE79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536E-6D42-42F9-8867-7CBF1DF3DB53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5E011-CEB3-5798-93CD-2D640DF9E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64119-3F50-85B2-414A-12682F1F9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50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D8A70-742B-B312-566C-A8B8F4501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767E8-F1DA-83E8-F258-5A2BC55A3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BC2E5-DF35-12A0-12BD-1FF6EE083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7FFC-4D90-4102-9F19-0FC75913ECB5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AB700-5056-B68C-2B25-3C6B001EA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64639-3250-E001-CE85-54A86C12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36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A5EE6-D5DF-125D-47D2-C17B1E649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0A10C-DF9E-67C4-03EB-BA5D590D75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BEEE5-84D3-DBA2-10C5-DF9D1FAB5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69101-348C-E4A6-A32A-792ECE2FA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DC560-693C-4040-8B9C-4F4FC7C24656}" type="datetime1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E8D85-E54F-2694-63F8-6D3EE57F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F3EE3-85DC-E898-ABBF-63B7E1FCB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07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B2D5D-FCBF-E93B-7E28-FE192CC0A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95C16-8EE8-9832-C34B-D3ADDD918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0ACDE6-651C-F74D-418B-474C1EC24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3D533C-649A-6159-D81A-F29EA2CF76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E7207F-FF7B-CF09-4303-05387CDC4E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175B76-BEAC-3EEE-4098-662F76B94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F23-AAA4-4E1D-96FB-9512CAF558B3}" type="datetime1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6A29EC-ECCA-C122-F9F5-3B4C14A50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C447AA-801A-1E9D-6DD5-2973DD367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97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FC257-9F85-4591-E831-EC185C553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D0CB8-7C65-DFC4-E0FF-1111CEF61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D93FF-3CEE-4A89-83E0-A75F67F2B5B4}" type="datetime1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E4359A-BB80-5D40-E63B-5101AE82C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E2C9F5-5719-0BC6-3A95-4D95C8EB1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8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2DD8A0-F057-73DC-65BE-A11EC7171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7CEB7-7334-4894-A800-AC33320D8861}" type="datetime1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8D7CBE-A367-5011-23AE-8A2C5AA6F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2D0B8-C45C-E61C-BED5-590333D0B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783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82DDB-B3AF-D093-A810-8F07D48B6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E5A51-FDE8-FB76-E4D1-1A23EC7D6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3AAE6-5809-367C-BE5A-04FA6DD79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88B92-B04E-E961-D017-E0B452535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A052-5C84-42D6-B021-419A5CBD28F0}" type="datetime1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CA031-C918-B2CE-2B0E-7E38C5F68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4D07D-0EC5-6115-030B-696C10817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96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9B6E4-72AA-A233-5E43-B617522CE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9DDD3-8BA8-CC65-EF9A-4B80114278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1FC01-549E-70D0-8E3C-AEF86DCF5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71113-D8DE-6511-B3BA-2243AE24A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0F9E-4A51-421A-AFCA-F8011D706036}" type="datetime1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8BC11C-3C58-A6F4-9C62-312EFE271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F3EEA-BC14-2B8C-6106-65AC4B939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856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FB9D2-94F9-B89E-C960-5E8389885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36A331-EE3E-48C2-8CFD-3CDA556F4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72B32-2CD5-128B-18D7-C6D112E3F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193DD-EC77-444F-AECE-18B735539E21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2A92F-5051-39B4-9DAD-DF931C9F4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66F87-DDFE-F3CC-5B62-93537DF99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964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FD402B-AB5D-772A-9A85-6DA8EAB9C1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35DED1-4492-D8A5-7B32-40F4A19CF8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BA6F3-17DE-B6E3-EBA1-21C7AF8EE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8DF4E-A63E-483E-877F-73A61D18A80C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2BB5B-FC09-2F70-1F69-79AB4F1B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6B8DE-7E79-4B07-141D-B5ADA5D0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697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E73636-6191-4CFA-0B58-E861F5648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24ADD-C62D-C11E-FA59-6CCC3919B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0CD15-35BA-1AB3-16DB-8AFE15D44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2A951-B553-49B4-9563-B574A8C82774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BCB2E-9DC4-EBFA-3C1B-6D4EB17CC2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AI &amp; 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A37A3-126E-62CF-F9FA-5666C0FC9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232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C409A-82F8-B2A1-842F-4444F672F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7112" y="2441448"/>
            <a:ext cx="9144000" cy="1351979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Project Phase – I: Review - II</a:t>
            </a:r>
            <a:br>
              <a:rPr lang="en-US" dirty="0"/>
            </a:br>
            <a:r>
              <a:rPr lang="en-US" b="0" i="0" dirty="0">
                <a:effectLst/>
                <a:latin typeface="fkGroteskNeue"/>
              </a:rPr>
              <a:t>Voice-Based Sentiment and Context Analysis System for Call Center Performance and Trend Monitoring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93C037-7523-9768-0CCB-AC408DD43A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174" y="3978517"/>
            <a:ext cx="11377042" cy="204643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Year/Sem/Sec: IV/VII/A			</a:t>
            </a:r>
            <a:r>
              <a:rPr lang="en-US" dirty="0" err="1"/>
              <a:t>Batch_No</a:t>
            </a:r>
            <a:r>
              <a:rPr lang="en-US" dirty="0"/>
              <a:t>:  1</a:t>
            </a:r>
          </a:p>
          <a:p>
            <a:r>
              <a:rPr lang="en-US" b="1" dirty="0"/>
              <a:t>Team Members:</a:t>
            </a:r>
            <a:r>
              <a:rPr lang="en-US" dirty="0"/>
              <a:t>				</a:t>
            </a:r>
            <a:r>
              <a:rPr lang="en-US" b="1" dirty="0"/>
              <a:t>Guided By:</a:t>
            </a:r>
          </a:p>
          <a:p>
            <a:r>
              <a:rPr lang="en-US" dirty="0"/>
              <a:t>1. Sam Daniel Vincy: 22UAI088			</a:t>
            </a:r>
            <a:r>
              <a:rPr lang="en-US" b="1" dirty="0"/>
              <a:t>Name of the Guide: </a:t>
            </a:r>
            <a:r>
              <a:rPr lang="en-US" dirty="0" err="1"/>
              <a:t>Dr.J</a:t>
            </a:r>
            <a:r>
              <a:rPr lang="en-US" dirty="0"/>
              <a:t>.  </a:t>
            </a:r>
            <a:r>
              <a:rPr lang="en-US" dirty="0" err="1"/>
              <a:t>Madhusudanan</a:t>
            </a:r>
            <a:endParaRPr lang="en-US" dirty="0"/>
          </a:p>
          <a:p>
            <a:r>
              <a:rPr lang="en-US" dirty="0"/>
              <a:t>2. Sham Ghanesh: 22UAI095				</a:t>
            </a:r>
            <a:r>
              <a:rPr lang="en-US" b="1" dirty="0"/>
              <a:t>Designation: </a:t>
            </a:r>
            <a:r>
              <a:rPr lang="en-US" dirty="0"/>
              <a:t>Professor &amp; Head of the Department, AI &amp; DS</a:t>
            </a:r>
          </a:p>
          <a:p>
            <a:r>
              <a:rPr lang="en-US" dirty="0"/>
              <a:t>3. Kiruba: 22UAI055				</a:t>
            </a:r>
            <a:r>
              <a:rPr lang="en-US" b="1" dirty="0"/>
              <a:t>Name of the College:</a:t>
            </a:r>
            <a:r>
              <a:rPr lang="en-US" dirty="0"/>
              <a:t> SMVEC</a:t>
            </a:r>
          </a:p>
          <a:p>
            <a:r>
              <a:rPr lang="en-US" dirty="0"/>
              <a:t>4. Saravanan: 22UAI090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ADAB21-1474-B45B-BBF0-F8C50F391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Artificial Intelligence and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FDBD7-5A84-4BD6-6DBB-A6693F12E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843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23C1F-25D3-9291-A059-5CDB0A7BF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3B6B6-6D93-8E50-1657-B4D14A69A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badi Extra Light" panose="020B0604020202020204" pitchFamily="34" charset="0"/>
              </a:rPr>
              <a:t>Introduction and Motivation</a:t>
            </a:r>
          </a:p>
          <a:p>
            <a:r>
              <a:rPr lang="en-US" sz="2600" dirty="0">
                <a:latin typeface="Abadi Extra Light" panose="020B0604020202020204" pitchFamily="34" charset="0"/>
              </a:rPr>
              <a:t>Domain Explanation</a:t>
            </a:r>
          </a:p>
          <a:p>
            <a:r>
              <a:rPr lang="en-US" sz="2600" dirty="0">
                <a:latin typeface="Abadi Extra Light" panose="020B0604020202020204" pitchFamily="34" charset="0"/>
              </a:rPr>
              <a:t>Problem Statement and Scope</a:t>
            </a:r>
          </a:p>
          <a:p>
            <a:r>
              <a:rPr lang="en-US" sz="2600" dirty="0">
                <a:latin typeface="Abadi Extra Light" panose="020B0604020202020204" pitchFamily="34" charset="0"/>
              </a:rPr>
              <a:t>Project Objective</a:t>
            </a:r>
          </a:p>
          <a:p>
            <a:r>
              <a:rPr lang="en-US" sz="2600" dirty="0">
                <a:latin typeface="Abadi Extra Light" panose="020B0604020202020204" pitchFamily="34" charset="0"/>
              </a:rPr>
              <a:t>Review of Existing Systems</a:t>
            </a:r>
          </a:p>
          <a:p>
            <a:r>
              <a:rPr lang="en-US" sz="2600" dirty="0">
                <a:latin typeface="Abadi Extra Light" panose="020B0604020202020204" pitchFamily="34" charset="0"/>
              </a:rPr>
              <a:t>Proposed Solution and Methods</a:t>
            </a:r>
          </a:p>
          <a:p>
            <a:r>
              <a:rPr lang="en-US" sz="2600" dirty="0">
                <a:latin typeface="Abadi Extra Light" panose="020B0604020202020204" pitchFamily="34" charset="0"/>
              </a:rPr>
              <a:t>Literature Review</a:t>
            </a:r>
          </a:p>
          <a:p>
            <a:r>
              <a:rPr lang="en-US" sz="2600" dirty="0">
                <a:latin typeface="Abadi Extra Light" panose="020B0604020202020204" pitchFamily="34" charset="0"/>
              </a:rPr>
              <a:t>Expected Outcomes and Conclusion</a:t>
            </a:r>
          </a:p>
          <a:p>
            <a:r>
              <a:rPr lang="en-US" sz="2600" dirty="0">
                <a:latin typeface="Abadi Extra Light" panose="020B0604020202020204" pitchFamily="34" charset="0"/>
              </a:rPr>
              <a:t>References</a:t>
            </a:r>
          </a:p>
          <a:p>
            <a:endParaRPr lang="en-US" sz="4800" dirty="0">
              <a:latin typeface="Abadi Extra Light" panose="020B0604020202020204" pitchFamily="34" charset="0"/>
              <a:cs typeface="Times New Roman" panose="02020603050405020304" pitchFamily="18" charset="0"/>
            </a:endParaRP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0DF1D-B4EC-E1E4-F585-AD4B0A1F6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2465A5-B230-31FA-E44C-0CDAB816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854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D096C-02BF-CADD-7BD5-625C7856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4397B-CB6F-7BCA-FF25-FAB331EA9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Domain of the Project: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B4E260A-2270-8DC9-2349-50B2AF8FD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badi Extra Light" panose="020B0204020104020204" pitchFamily="34" charset="0"/>
              </a:rPr>
              <a:t>Artificial Intelligence for Speech Analytics in Customer Service</a:t>
            </a:r>
            <a:endParaRPr lang="en-US" sz="2400" dirty="0">
              <a:latin typeface="Abadi Extra Light" panose="020B02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EAB6B95-9BB3-5A19-E00C-9D4243A97913}"/>
              </a:ext>
            </a:extLst>
          </p:cNvPr>
          <p:cNvSpPr txBox="1">
            <a:spLocks/>
          </p:cNvSpPr>
          <p:nvPr/>
        </p:nvSpPr>
        <p:spPr>
          <a:xfrm>
            <a:off x="838200" y="2354168"/>
            <a:ext cx="9144000" cy="8893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Domain Explanation:</a:t>
            </a:r>
          </a:p>
        </p:txBody>
      </p:sp>
      <p:sp>
        <p:nvSpPr>
          <p:cNvPr id="5" name="Subtitle 3">
            <a:extLst>
              <a:ext uri="{FF2B5EF4-FFF2-40B4-BE49-F238E27FC236}">
                <a16:creationId xmlns:a16="http://schemas.microsoft.com/office/drawing/2014/main" id="{F9D8C46C-F729-120A-CDF2-017F6DEDBE01}"/>
              </a:ext>
            </a:extLst>
          </p:cNvPr>
          <p:cNvSpPr txBox="1">
            <a:spLocks/>
          </p:cNvSpPr>
          <p:nvPr/>
        </p:nvSpPr>
        <p:spPr>
          <a:xfrm>
            <a:off x="838200" y="3422872"/>
            <a:ext cx="10515600" cy="23131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 Light" panose="020B0204020104020204" pitchFamily="34" charset="0"/>
              </a:rPr>
              <a:t>Speech analytics in AI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 Light" panose="020B0204020104020204" pitchFamily="34" charset="0"/>
              </a:rPr>
              <a:t>extracts insights from audio conversations using ASR, sentiment analysis, emotion detection, and context understanding.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 Light" panose="020B0204020104020204" pitchFamily="34" charset="0"/>
              </a:rPr>
              <a:t>It enables organizations to unlock business value from voice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 Light" panose="020B0204020104020204" pitchFamily="34" charset="0"/>
              </a:rPr>
              <a:t>In call centers, it transforms quality monitoring, coaching, and customer satisfaction analysis.</a:t>
            </a:r>
          </a:p>
          <a:p>
            <a:pPr algn="l"/>
            <a:endParaRPr lang="en-US" dirty="0">
              <a:latin typeface="Abadi Extra Light" panose="020B02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DAC39-A01F-6C03-3655-31A07DDAC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205FB-F128-24E7-B8C9-B21ED4904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071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5E655-87D6-685F-F8AE-C1FD07C65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F1D26-ADCB-F2BF-D203-F6A62D61E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Why we chosen this domain? Relate the domain with your project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B592169-75AF-9CA8-6BE4-19DBE39F7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Abadi" panose="020B0604020202020204" pitchFamily="34" charset="0"/>
                <a:cs typeface="Aharoni" panose="02010803020104030203" pitchFamily="2" charset="-79"/>
              </a:rPr>
              <a:t>Growing importance: </a:t>
            </a:r>
            <a:r>
              <a:rPr lang="en-US" sz="2400" b="1" dirty="0">
                <a:latin typeface="Abadi Extra Light" panose="020B0204020104020204" pitchFamily="34" charset="0"/>
              </a:rPr>
              <a:t>Call centers field millions of interactions; understanding these is key to customer retention.</a:t>
            </a:r>
          </a:p>
          <a:p>
            <a:r>
              <a:rPr lang="en-US" sz="2400" b="1" dirty="0">
                <a:latin typeface="Abadi" panose="020B0604020104020204" pitchFamily="34" charset="0"/>
                <a:cs typeface="Aharoni" panose="02010803020104030203" pitchFamily="2" charset="-79"/>
              </a:rPr>
              <a:t>Manual monitoring is unsustainable: </a:t>
            </a:r>
            <a:r>
              <a:rPr lang="en-US" sz="2400" b="1" dirty="0">
                <a:latin typeface="Abadi Extra Light" panose="020B0204020104020204" pitchFamily="34" charset="0"/>
              </a:rPr>
              <a:t>Listening to calls is labor-intensive, subjective, and often misses subtle patterns.</a:t>
            </a:r>
          </a:p>
          <a:p>
            <a:r>
              <a:rPr lang="en-US" sz="2400" b="1" dirty="0">
                <a:latin typeface="Abadi" panose="020B0604020104020204" pitchFamily="34" charset="0"/>
                <a:cs typeface="Aharoni" panose="02010803020104030203" pitchFamily="2" charset="-79"/>
              </a:rPr>
              <a:t>AI transforms quality and efficiency</a:t>
            </a:r>
            <a:r>
              <a:rPr lang="en-US" sz="2400" b="1" dirty="0">
                <a:latin typeface="Abadi" panose="020B0604020104020204" pitchFamily="34" charset="0"/>
              </a:rPr>
              <a:t>: </a:t>
            </a:r>
            <a:r>
              <a:rPr lang="en-US" sz="2400" b="1" dirty="0">
                <a:latin typeface="Abadi Extra Light" panose="020B0204020104020204" pitchFamily="34" charset="0"/>
              </a:rPr>
              <a:t>Automated systems can analyze every call in real-time, identify agent strengths and weaknesses, and measure customer sentiment.</a:t>
            </a:r>
          </a:p>
          <a:p>
            <a:r>
              <a:rPr lang="en-US" sz="2400" b="1" dirty="0">
                <a:latin typeface="Abadi" panose="020B0604020104020204" pitchFamily="34" charset="0"/>
                <a:cs typeface="Aharoni" panose="02010803020104030203" pitchFamily="2" charset="-79"/>
              </a:rPr>
              <a:t>Industry relevance</a:t>
            </a:r>
            <a:r>
              <a:rPr lang="en-US" sz="2400" b="1" dirty="0">
                <a:latin typeface="Abadi" panose="020B0604020104020204" pitchFamily="34" charset="0"/>
              </a:rPr>
              <a:t>: </a:t>
            </a:r>
            <a:r>
              <a:rPr lang="en-US" sz="2400" b="1" dirty="0">
                <a:latin typeface="Abadi Extra Light" panose="020B0204020104020204" pitchFamily="34" charset="0"/>
              </a:rPr>
              <a:t>Companies increasingly deploy AI for speech analytics to stay competitive.</a:t>
            </a:r>
          </a:p>
          <a:p>
            <a:r>
              <a:rPr lang="en-US" sz="2400" b="1" dirty="0">
                <a:latin typeface="Abadi" panose="020B0604020104020204" pitchFamily="34" charset="0"/>
                <a:cs typeface="Aharoni" panose="02010803020104030203" pitchFamily="2" charset="-79"/>
              </a:rPr>
              <a:t>Academic challenge</a:t>
            </a:r>
            <a:r>
              <a:rPr lang="en-US" sz="2400" b="1" dirty="0">
                <a:latin typeface="Abadi" panose="020B0604020104020204" pitchFamily="34" charset="0"/>
              </a:rPr>
              <a:t>: </a:t>
            </a:r>
            <a:r>
              <a:rPr lang="en-US" sz="2400" b="1" dirty="0">
                <a:latin typeface="Abadi Extra Light" panose="020B0204020104020204" pitchFamily="34" charset="0"/>
              </a:rPr>
              <a:t>Integrates deep learning, NLP, and data visualization—illustrating the power of AI in real-world enterprise applications.</a:t>
            </a: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8B5227-FADE-30FB-FFD2-C77E51C4A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1A9533-25A1-07DD-9B56-651D401E3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28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7C0F3-7BFE-6A94-A4EA-0832BBF97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E97DB-4FDE-F947-4858-53CB61454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8F1F366-7C5A-C95B-45E3-C7B5A21B1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600" b="1" dirty="0">
                <a:latin typeface="Abadi Extra Light" panose="020B0204020104020204" pitchFamily="34" charset="0"/>
              </a:rPr>
              <a:t>Traditional call center monitoring methods involve manual review of customer-agent conversations, which is time-consuming, inconsistent, and unable to scale for large call volumes.</a:t>
            </a:r>
          </a:p>
          <a:p>
            <a:pPr marL="0" indent="0">
              <a:buNone/>
            </a:pPr>
            <a:r>
              <a:rPr lang="en-US" sz="2600" b="1" dirty="0">
                <a:latin typeface="Abadi" panose="020B0604020104020204" pitchFamily="34" charset="0"/>
                <a:cs typeface="Aharoni" panose="02010803020104030203" pitchFamily="2" charset="-79"/>
              </a:rPr>
              <a:t>Current systems:</a:t>
            </a:r>
          </a:p>
          <a:p>
            <a:r>
              <a:rPr lang="en-US" sz="2600" b="1" dirty="0">
                <a:latin typeface="Abadi Extra Light" panose="020B0204020104020204" pitchFamily="34" charset="0"/>
              </a:rPr>
              <a:t>Focus mainly on text-based or basic keyword analysis.</a:t>
            </a:r>
          </a:p>
          <a:p>
            <a:r>
              <a:rPr lang="en-US" sz="2600" b="1" dirty="0">
                <a:latin typeface="Abadi Extra Light" panose="020B0204020104020204" pitchFamily="34" charset="0"/>
              </a:rPr>
              <a:t>Cannot accurately measure emotional tone or conversational context.</a:t>
            </a:r>
          </a:p>
          <a:p>
            <a:r>
              <a:rPr lang="en-US" sz="2600" b="1" dirty="0">
                <a:latin typeface="Abadi Extra Light" panose="020B0204020104020204" pitchFamily="34" charset="0"/>
              </a:rPr>
              <a:t>Lack real-time feedback for continuous improvement.</a:t>
            </a:r>
          </a:p>
          <a:p>
            <a:pPr marL="0" indent="0">
              <a:buNone/>
            </a:pPr>
            <a:r>
              <a:rPr lang="en-US" sz="2600" b="1" dirty="0">
                <a:latin typeface="Abadi" panose="020B0604020104020204" pitchFamily="34" charset="0"/>
                <a:cs typeface="Aharoni" panose="02010803020104030203" pitchFamily="2" charset="-79"/>
              </a:rPr>
              <a:t>There is a critical need for an AI-driven platform that:</a:t>
            </a:r>
          </a:p>
          <a:p>
            <a:pPr>
              <a:buFont typeface="+mj-lt"/>
              <a:buAutoNum type="arabicPeriod"/>
            </a:pPr>
            <a:r>
              <a:rPr lang="en-US" sz="2600" b="1" dirty="0">
                <a:latin typeface="Abadi Extra Light" panose="020B0204020104020204" pitchFamily="34" charset="0"/>
              </a:rPr>
              <a:t>Automatically transcribes calls.</a:t>
            </a:r>
          </a:p>
          <a:p>
            <a:pPr>
              <a:buFont typeface="+mj-lt"/>
              <a:buAutoNum type="arabicPeriod"/>
            </a:pPr>
            <a:r>
              <a:rPr lang="en-US" sz="2600" b="1" dirty="0">
                <a:latin typeface="Abadi Extra Light" panose="020B0204020104020204" pitchFamily="34" charset="0"/>
              </a:rPr>
              <a:t>Detects sentiment and context from voice.</a:t>
            </a:r>
          </a:p>
          <a:p>
            <a:pPr>
              <a:buFont typeface="+mj-lt"/>
              <a:buAutoNum type="arabicPeriod"/>
            </a:pPr>
            <a:r>
              <a:rPr lang="en-US" sz="2600" b="1" dirty="0">
                <a:latin typeface="Abadi Extra Light" panose="020B0204020104020204" pitchFamily="34" charset="0"/>
              </a:rPr>
              <a:t>Presents actionable insights promptly to agents and management.</a:t>
            </a:r>
          </a:p>
          <a:p>
            <a:endParaRPr lang="en-US" sz="3600" b="1" dirty="0">
              <a:latin typeface="Abadi Extra Light" panose="020B0204020104020204" pitchFamily="34" charset="0"/>
            </a:endParaRPr>
          </a:p>
          <a:p>
            <a:pPr algn="l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B81ECE-E182-4B66-7D1B-9F1B8C310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74745-20CC-BF0B-CAA3-235E71F65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08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FCD56-6501-E4D1-AFC5-3E87F99E4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92EB8-AB4D-2F7A-C32D-F6A5A6782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Scope of the project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F8441B2-1D22-0D4F-E7EA-03687E452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Abadi" panose="020B0604020104020204" pitchFamily="34" charset="0"/>
                <a:cs typeface="Aharoni" panose="02010803020104030203" pitchFamily="2" charset="-79"/>
              </a:rPr>
              <a:t>Automated Speech-to-Text: </a:t>
            </a:r>
            <a:r>
              <a:rPr lang="en-US" sz="2400" b="1" dirty="0">
                <a:latin typeface="Abadi Extra Light" panose="020B0204020104020204" pitchFamily="34" charset="0"/>
              </a:rPr>
              <a:t>Transcribe customer and agent speech using advanced ASR techniques.</a:t>
            </a:r>
          </a:p>
          <a:p>
            <a:r>
              <a:rPr lang="en-US" sz="2400" b="1" dirty="0">
                <a:latin typeface="Abadi" panose="020B0604020104020204" pitchFamily="34" charset="0"/>
                <a:cs typeface="Aharoni" panose="02010803020104030203" pitchFamily="2" charset="-79"/>
              </a:rPr>
              <a:t>Sentiment &amp; Context Classification: </a:t>
            </a:r>
            <a:r>
              <a:rPr lang="en-US" sz="2400" b="1" dirty="0">
                <a:latin typeface="Abadi Extra Light" panose="020B0204020104020204" pitchFamily="34" charset="0"/>
              </a:rPr>
              <a:t>Apply NLP and ML models to classify calls by sentiment (positive/negative/neutral) and by context (complaint, inquiry, feedback, etc.).</a:t>
            </a:r>
          </a:p>
          <a:p>
            <a:r>
              <a:rPr lang="en-US" sz="2400" b="1" dirty="0">
                <a:latin typeface="Abadi" panose="020B0604020104020204" pitchFamily="34" charset="0"/>
                <a:cs typeface="Aharoni" panose="02010803020104030203" pitchFamily="2" charset="-79"/>
              </a:rPr>
              <a:t>Dashboard for Insights</a:t>
            </a:r>
            <a:r>
              <a:rPr lang="en-US" sz="2400" b="1" dirty="0">
                <a:latin typeface="Abadi" panose="020B0604020104020204" pitchFamily="34" charset="0"/>
              </a:rPr>
              <a:t>: </a:t>
            </a:r>
            <a:r>
              <a:rPr lang="en-US" sz="2400" b="1" dirty="0">
                <a:latin typeface="Abadi Extra Light" panose="020B0204020104020204" pitchFamily="34" charset="0"/>
              </a:rPr>
              <a:t>Display agent performance, customer satisfaction metrics, and call trends via interactive dashboards.</a:t>
            </a:r>
          </a:p>
          <a:p>
            <a:r>
              <a:rPr lang="en-US" sz="2400" b="1" dirty="0">
                <a:latin typeface="Abadi" panose="020B0604020104020204" pitchFamily="34" charset="0"/>
                <a:cs typeface="Aharoni" panose="02010803020104030203" pitchFamily="2" charset="-79"/>
              </a:rPr>
              <a:t>User Roles</a:t>
            </a:r>
            <a:r>
              <a:rPr lang="en-US" sz="2400" b="1" dirty="0">
                <a:latin typeface="Abadi" panose="020B0604020104020204" pitchFamily="34" charset="0"/>
              </a:rPr>
              <a:t>: </a:t>
            </a:r>
            <a:r>
              <a:rPr lang="en-US" sz="2400" b="1" dirty="0">
                <a:latin typeface="Abadi Extra Light" panose="020B0204020104020204" pitchFamily="34" charset="0"/>
              </a:rPr>
              <a:t>Customized views and reports for agents, admins, and management.</a:t>
            </a:r>
          </a:p>
          <a:p>
            <a:r>
              <a:rPr lang="en-US" sz="2400" b="1" dirty="0">
                <a:latin typeface="Abadi" panose="020B0604020104020204" pitchFamily="34" charset="0"/>
                <a:cs typeface="Aharoni" panose="02010803020104030203" pitchFamily="2" charset="-79"/>
              </a:rPr>
              <a:t>Scalability &amp; Integration</a:t>
            </a:r>
            <a:r>
              <a:rPr lang="en-US" sz="2400" b="1" dirty="0">
                <a:latin typeface="Abadi" panose="020B0604020104020204" pitchFamily="34" charset="0"/>
              </a:rPr>
              <a:t>: </a:t>
            </a:r>
            <a:r>
              <a:rPr lang="en-US" sz="2400" b="1" dirty="0">
                <a:latin typeface="Abadi Extra Light" panose="020B0204020104020204" pitchFamily="34" charset="0"/>
              </a:rPr>
              <a:t>Framework should be adaptable to various call centers and support future integration.</a:t>
            </a:r>
          </a:p>
          <a:p>
            <a:pPr algn="l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A8AF04-EFFF-9862-AD80-026DD45D7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ADF099-9683-39DA-A76D-2DF2036DF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71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2DB22-0313-8B2C-012B-063A9AB69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Objective: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DBC4243-9E7C-2941-7B9A-B4D4EDC1A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Abadi Extra Light" panose="020B0204020104020204" pitchFamily="34" charset="0"/>
              </a:rPr>
              <a:t>Develop a system that combines voice recognition and sentiment/context analysis for call center monitoring.</a:t>
            </a:r>
          </a:p>
          <a:p>
            <a:r>
              <a:rPr lang="en-US" sz="2400" b="1" dirty="0">
                <a:latin typeface="Abadi Extra Light" panose="020B0204020104020204" pitchFamily="34" charset="0"/>
              </a:rPr>
              <a:t>Enable real-time feedback and trend identification for improvement of customer service.</a:t>
            </a:r>
          </a:p>
          <a:p>
            <a:r>
              <a:rPr lang="en-US" sz="2400" b="1" dirty="0">
                <a:latin typeface="Abadi Extra Light" panose="020B0204020104020204" pitchFamily="34" charset="0"/>
              </a:rPr>
              <a:t>Deliver an easy-to-use dashboard for data-driven decision-making by all stakeholders.</a:t>
            </a:r>
          </a:p>
          <a:p>
            <a:r>
              <a:rPr lang="en-US" sz="2400" b="1" dirty="0">
                <a:latin typeface="Abadi Extra Light" panose="020B0204020104020204" pitchFamily="34" charset="0"/>
              </a:rPr>
              <a:t>Demonstrate measurable improvement over traditional/manual monitoring.</a:t>
            </a:r>
          </a:p>
          <a:p>
            <a:pPr algn="l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FEAF90-CBB7-D210-5104-04A0A42D6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38495-7EFA-E59C-B0C3-EC921FE07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411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440E6-5747-D794-E576-B3090959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1C6E0-C410-26B2-3DF1-42462C056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Existing system &amp; Technique used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8C5A85C-C5B4-01F2-D7B3-3BBBA0FB0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100" dirty="0">
                <a:latin typeface="Abadi" panose="020B0604020104020204" pitchFamily="34" charset="0"/>
                <a:cs typeface="Aharoni" panose="02010803020104030203" pitchFamily="2" charset="-79"/>
              </a:rPr>
              <a:t>Current Approaches:</a:t>
            </a:r>
          </a:p>
          <a:p>
            <a:r>
              <a:rPr lang="en-US" sz="2600" b="1" dirty="0">
                <a:latin typeface="Abadi Extra Light" panose="020B0204020104020204" pitchFamily="34" charset="0"/>
              </a:rPr>
              <a:t>Human supervisors review a small sample of calls, leading to subjective and delayed feedback.</a:t>
            </a:r>
          </a:p>
          <a:p>
            <a:r>
              <a:rPr lang="en-US" sz="2600" b="1" dirty="0">
                <a:latin typeface="Abadi Extra Light" panose="020B0204020104020204" pitchFamily="34" charset="0"/>
              </a:rPr>
              <a:t>Basic analytic tools focus on call duration or simple word spotting after transcribing calls to text.</a:t>
            </a:r>
          </a:p>
          <a:p>
            <a:r>
              <a:rPr lang="en-US" sz="2600" b="1" dirty="0">
                <a:latin typeface="Abadi Extra Light" panose="020B0204020104020204" pitchFamily="34" charset="0"/>
              </a:rPr>
              <a:t>Sentiment analysis is typically performed only on chat or email (text) interactions.</a:t>
            </a:r>
          </a:p>
          <a:p>
            <a:pPr marL="0" indent="0">
              <a:buNone/>
            </a:pPr>
            <a:r>
              <a:rPr lang="en-US" sz="3100" b="1" dirty="0">
                <a:latin typeface="Abadi" panose="020B0604020104020204" pitchFamily="34" charset="0"/>
                <a:cs typeface="Aharoni" panose="02010803020104030203" pitchFamily="2" charset="-79"/>
              </a:rPr>
              <a:t>Limitations:</a:t>
            </a:r>
          </a:p>
          <a:p>
            <a:r>
              <a:rPr lang="en-US" sz="2600" b="1" dirty="0">
                <a:latin typeface="Abadi Extra Light" panose="020B0204020104020204" pitchFamily="34" charset="0"/>
              </a:rPr>
              <a:t>High labor cost; not scalable for growing call volumes.</a:t>
            </a:r>
          </a:p>
          <a:p>
            <a:r>
              <a:rPr lang="en-US" sz="2600" b="1" dirty="0">
                <a:latin typeface="Abadi Extra Light" panose="020B0204020104020204" pitchFamily="34" charset="0"/>
              </a:rPr>
              <a:t>Neglects critical information in tone and context.</a:t>
            </a:r>
          </a:p>
          <a:p>
            <a:r>
              <a:rPr lang="en-US" sz="2600" b="1" dirty="0">
                <a:latin typeface="Abadi Extra Light" panose="020B0204020104020204" pitchFamily="34" charset="0"/>
              </a:rPr>
              <a:t>Does not support real-time intervention.</a:t>
            </a:r>
          </a:p>
          <a:p>
            <a:pPr algn="l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C95A60-57DC-9B7C-D70A-6F1B53976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130455-0FE8-8BE7-66B3-1C0726B24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60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EF284-95A4-1D5E-2113-9A9892E00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15822-6495-B855-FF37-B9F15D503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Drawbacks of existing system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47C36BB-3E28-5AF6-3A2D-B274D6679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Abadi" panose="020B0604020104020204" pitchFamily="34" charset="0"/>
                <a:cs typeface="Aharoni" panose="02010803020104030203" pitchFamily="2" charset="-79"/>
              </a:rPr>
              <a:t>Subjectivity</a:t>
            </a:r>
            <a:r>
              <a:rPr lang="en-US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: </a:t>
            </a:r>
            <a:r>
              <a:rPr lang="en-US" sz="2400" b="1" dirty="0">
                <a:latin typeface="Abadi Extra Light" panose="020B0204020104020204" pitchFamily="34" charset="0"/>
              </a:rPr>
              <a:t>Human interpretation varies and is prone to bias.</a:t>
            </a:r>
          </a:p>
          <a:p>
            <a:r>
              <a:rPr lang="en-US" sz="2400" b="1" dirty="0">
                <a:latin typeface="Abadi" panose="020B0604020104020204" pitchFamily="34" charset="0"/>
                <a:cs typeface="Aharoni" panose="02010803020104030203" pitchFamily="2" charset="-79"/>
              </a:rPr>
              <a:t>Limited Coverage: </a:t>
            </a:r>
            <a:r>
              <a:rPr lang="en-US" sz="2400" b="1" dirty="0">
                <a:latin typeface="Abadi Extra Light" panose="020B0204020104020204" pitchFamily="34" charset="0"/>
              </a:rPr>
              <a:t>Only a fraction of calls can be reviewed, missing larger patterns.</a:t>
            </a:r>
          </a:p>
          <a:p>
            <a:r>
              <a:rPr lang="en-US" sz="2400" b="1" dirty="0">
                <a:latin typeface="Abadi" panose="020B0604020104020204" pitchFamily="34" charset="0"/>
                <a:cs typeface="Aharoni" panose="02010803020104030203" pitchFamily="2" charset="-79"/>
              </a:rPr>
              <a:t>Information Loss: </a:t>
            </a:r>
            <a:r>
              <a:rPr lang="en-US" sz="2400" b="1" dirty="0">
                <a:latin typeface="Abadi Extra Light" panose="020B0204020104020204" pitchFamily="34" charset="0"/>
              </a:rPr>
              <a:t>Emotional tone, urgency, and subtle cues in voice are not captured by text-only systems.</a:t>
            </a:r>
          </a:p>
          <a:p>
            <a:r>
              <a:rPr lang="en-US" sz="2400" b="1" dirty="0">
                <a:latin typeface="Abadi" panose="020B0604020104020204" pitchFamily="34" charset="0"/>
                <a:cs typeface="Aharoni" panose="02010803020104030203" pitchFamily="2" charset="-79"/>
              </a:rPr>
              <a:t>Delayed Feedback: </a:t>
            </a:r>
            <a:r>
              <a:rPr lang="en-US" sz="2400" b="1" dirty="0">
                <a:latin typeface="Abadi Extra Light" panose="020B0204020104020204" pitchFamily="34" charset="0"/>
              </a:rPr>
              <a:t>Actionable insights are often delivered too late to improve the customer/agent experience.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8E4E6F-827B-69BD-F4B2-D789136DA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FFFD3-F5EE-9C27-9205-6609D666B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068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7782E-389A-80B6-775E-941F31A1E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50E83-3E5F-A685-C1CA-B7A13FCD9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616" y="210312"/>
            <a:ext cx="10515600" cy="103232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7FBB154-207A-006C-CBC6-E27618DF82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4106098"/>
              </p:ext>
            </p:extLst>
          </p:nvPr>
        </p:nvGraphicFramePr>
        <p:xfrm>
          <a:off x="737620" y="1242632"/>
          <a:ext cx="10515596" cy="4962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252338211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81264406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73019260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03817309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98912640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765306091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2892578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Name of the 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Year of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Short Description about the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Methods/ Models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Dataset/ Features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Merits &amp; Demerits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755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Islam et al.</a:t>
                      </a:r>
                      <a:endParaRPr lang="en-IN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Proposed DCNN for Speech Emotion Recognition (SER)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Deep CNN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TESS dataset, log-Mel spectrograms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High accuracy (&gt;90%), robust for acted data | Limited real-world applicability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Shows CNNs can effectively capture emotional cues in speech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7051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Gao et al.</a:t>
                      </a:r>
                      <a:endParaRPr lang="en-IN" sz="11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1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Multilevel acoustic &amp; semantic SER features for call centers</a:t>
                      </a:r>
                      <a:endParaRPr lang="en-IN" sz="11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Hybrid ML + semantic embeddings</a:t>
                      </a:r>
                      <a:endParaRPr lang="en-IN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IEMOCAP dataset</a:t>
                      </a:r>
                      <a:endParaRPr lang="en-IN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Captures acoustic + semantic cues | Computationally heavy</a:t>
                      </a:r>
                      <a:endParaRPr lang="en-IN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Multimodal features improve SER accuracy</a:t>
                      </a:r>
                      <a:endParaRPr lang="en-IN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288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ICNLSP Authors</a:t>
                      </a:r>
                      <a:endParaRPr lang="en-IN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1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SER using self-supervised models in call centers</a:t>
                      </a:r>
                      <a:endParaRPr lang="en-IN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Self-supervised learning (SSL), transformer</a:t>
                      </a:r>
                      <a:endParaRPr lang="en-IN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Call center conversational datasets</a:t>
                      </a:r>
                      <a:endParaRPr lang="en-IN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Better generalization than supervised | Needs large data &amp; compute</a:t>
                      </a:r>
                      <a:endParaRPr lang="en-IN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SSL enhances real-world SER</a:t>
                      </a:r>
                      <a:endParaRPr lang="en-IN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1337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MATEC Authors</a:t>
                      </a:r>
                      <a:endParaRPr lang="en-IN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Chatbot and AI adoption in customer service</a:t>
                      </a:r>
                      <a:endParaRPr lang="en-IN" sz="11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 models (chatbots, NLP)</a:t>
                      </a:r>
                      <a:endParaRPr lang="en-IN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Case-based BPO data</a:t>
                      </a:r>
                      <a:endParaRPr lang="en-IN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Reduces cost, improves response | Limited emotional depth</a:t>
                      </a:r>
                      <a:endParaRPr lang="en-IN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 complements human agents in BPOs</a:t>
                      </a:r>
                      <a:endParaRPr lang="en-IN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7993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Interspeech Challenge Committee</a:t>
                      </a:r>
                      <a:endParaRPr lang="en-IN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SER in naturalistic conditions</a:t>
                      </a:r>
                      <a:endParaRPr lang="en-IN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CNN + RNN hybrids</a:t>
                      </a:r>
                      <a:endParaRPr lang="en-IN" sz="11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Real-world noisy datasets</a:t>
                      </a:r>
                      <a:endParaRPr lang="en-IN" sz="11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Benchmarks realistic scenarios | Performance lower than lab data</a:t>
                      </a:r>
                      <a:endParaRPr lang="en-IN" sz="11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Highlights gap between lab &amp; real-world SER</a:t>
                      </a:r>
                      <a:endParaRPr lang="en-IN" sz="11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7935191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0A2E3A-6840-04ED-E52A-21136B77C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E18637-C868-4401-B9F0-B32E6A704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59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CF5D1-999F-B393-B4EF-C046C55E3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FF2DF-2654-0EFC-BFC4-DAA53E4BE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957E137-054C-1920-60E1-064C2B6E46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0518750"/>
              </p:ext>
            </p:extLst>
          </p:nvPr>
        </p:nvGraphicFramePr>
        <p:xfrm>
          <a:off x="838200" y="1825625"/>
          <a:ext cx="10515596" cy="39985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252338211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81264406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73019260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03817309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98912640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765306091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2892578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Name of the 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Year of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Short Description about the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Methods/ Models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Dataset/ Features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Merits &amp; Demerits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755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Springer Authors</a:t>
                      </a:r>
                      <a:endParaRPr lang="en-IN" sz="11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AI-based SER in conversations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Transformer + CNN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Conversational datasets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Good real-world insights | Needs large-scale data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 can analyze emotions contextually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7051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ScienceDirect Authors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SER using Mel-spectrogram + CNN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CNN, spectrogram analysis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Speech datasets (e.g., RAVDESS)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Simple, effective, scalable | Struggles with noisy speech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CNN is a good baseline for SER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288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ScienceDirect Authors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2021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Multimodal hierarchical SER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Hierarchical deep learning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Audio + text multimodal data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Captures multiple modalities | Complex model, needs sync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Multimodality improves emotion recognition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1337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AIP Conference Authors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2023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SER via ML techniques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SVM, RF, shallow ML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Acoustic features (pitch, energy)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Lightweight models | Limited accuracy vs DL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ML suitable for small-scale tasks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7993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IJFMR (India)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 in BPO employment impact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Review paper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Industry data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Shows AI adoption trends | Not experimental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Useful socio-economic insights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7935191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CFC8C3-13F4-5F0B-1954-084D73D1A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A851C8-6ED1-2231-D521-4404C6C84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57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4F7B5-48C8-BD7D-BABF-0145A59DE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2D9F-8FBA-BF03-CA60-D343763DA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C827A54-A567-CBDE-0254-E8923CA0FE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190430"/>
              </p:ext>
            </p:extLst>
          </p:nvPr>
        </p:nvGraphicFramePr>
        <p:xfrm>
          <a:off x="838200" y="1825625"/>
          <a:ext cx="10515596" cy="3807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252338211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81264406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73019260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03817309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98912640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765306091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2892578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Name of the 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Year of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Short Description about the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Methods/ Models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Dataset/ Features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Merits &amp; Demerits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755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Islam et al. (ICCCI)</a:t>
                      </a:r>
                      <a:endParaRPr lang="en-IN" sz="11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Deep CNN for SER</a:t>
                      </a:r>
                      <a:endParaRPr lang="en-IN" sz="11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DCNN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TESS dataset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High recognition accuracy | Limited dataset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Strong SER benchmark</a:t>
                      </a:r>
                      <a:endParaRPr lang="en-IN" sz="11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7051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Nature/IEEE Authors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Lightweight SER ensembles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Ensemble CNNs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Multi-acoustic datasets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Efficient &amp; accurate | Ensemble complexity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Good trade-off between accuracy &amp; compute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288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Arxiv Authors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LLM for contact center analytics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LLMs (BERT, GPT)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Call transcripts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Extracts insights efficiently | Costly deployment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LLMs transform call center analytics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1337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Springer/IEEE Authors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2023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Review of NLP in automation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Literature survey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Contact center NLP systems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Broad data review | No experiments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Useful overview of NLP in BPO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7993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IEEE ISORC Authors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Real-time monitoring algorithms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Clustering, mining, analytics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Streaming call data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Real-time performance | Needs robust infra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Feasible for live BPO monitoring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7935191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E03CC2-F96B-12AF-7991-05BEC71B3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311B0-5585-30C9-D5BB-2B5BD6080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131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6349D-43B3-21F0-A3B2-690F4253D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F0B55-D7B7-D2E0-6397-4D44F7691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Proposed system: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61A8D90-7F3F-1D67-140E-75F67A5D4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i="0" dirty="0">
                <a:effectLst/>
                <a:latin typeface="Abadi Extra Light" panose="020B0204020104020204" pitchFamily="34" charset="0"/>
              </a:rPr>
              <a:t>The Hierarchical Attention-based Agent Monitoring (HAAM) Framework is designed to revolutionize call center analytics by using advanced artificial intelligence for real-time speech and sentiment analysis. Built on a dual-layer architecture ("Sprint" for intra-call, "Marathon" for cross-call), HAAM fuses audio and text features, enabling robust customer interaction monitoring and proactive agent support. Unlike older systems limited to keyword or text-only sentiment scoring, HAAM delivers deeper insight by directly linking vocal tone and emotional cues to the words spoken, all while maintaining scalability and </a:t>
            </a:r>
            <a:r>
              <a:rPr lang="en-US" sz="2400" i="0" dirty="0" err="1">
                <a:effectLst/>
                <a:latin typeface="Abadi Extra Light" panose="020B0204020104020204" pitchFamily="34" charset="0"/>
              </a:rPr>
              <a:t>explainability</a:t>
            </a:r>
            <a:endParaRPr lang="en-US" sz="3600" dirty="0">
              <a:latin typeface="Abadi Extra Light" panose="020B02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4D7D12-55D0-DC87-AEEA-B4E26DE82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D34665-6955-A47E-144F-614CEEDD5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539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56A18-68AB-0800-6A6F-32B88791A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4B50B-61B2-09BA-6851-78158DC73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914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Proposed system: Technique and methods used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1A36BEB-244D-3C17-6988-5928CA5D7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0744"/>
            <a:ext cx="10515600" cy="4351338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Abadi Extra Light" panose="020B0204020104020204" pitchFamily="34" charset="0"/>
              </a:rPr>
              <a:t>Multimodal Fusion: </a:t>
            </a:r>
            <a:r>
              <a:rPr lang="en-US" sz="2400" b="0" i="0" dirty="0">
                <a:effectLst/>
                <a:latin typeface="Abadi Extra Light" panose="020B0204020104020204" pitchFamily="34" charset="0"/>
              </a:rPr>
              <a:t>Combines both audio features (pitch, energy, tone) and text features (NLP embeddings) through hierarchical attention mechanisms to accurately detect sentiment and emotion in real-time calls.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Abadi Extra Light" panose="020B0204020104020204" pitchFamily="34" charset="0"/>
              </a:rPr>
              <a:t>Dual-Layer Analysis: </a:t>
            </a:r>
            <a:r>
              <a:rPr lang="en-US" sz="2400" b="0" i="0" dirty="0">
                <a:effectLst/>
                <a:latin typeface="Abadi Extra Light" panose="020B0204020104020204" pitchFamily="34" charset="0"/>
              </a:rPr>
              <a:t>Uses “Sprint” for immediate, per-call analysis and “Marathon” for tracking agent trends and wellness over time.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Abadi Extra Light" panose="020B0204020104020204" pitchFamily="34" charset="0"/>
              </a:rPr>
              <a:t>Explainable AI: </a:t>
            </a:r>
            <a:r>
              <a:rPr lang="en-US" sz="2400" b="0" i="0" dirty="0">
                <a:effectLst/>
                <a:latin typeface="Abadi Extra Light" panose="020B0204020104020204" pitchFamily="34" charset="0"/>
              </a:rPr>
              <a:t>Highlights which segments (words/tones) triggered alerts so supervisors understand decisions.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Abadi Extra Light" panose="020B0204020104020204" pitchFamily="34" charset="0"/>
              </a:rPr>
              <a:t>Scalable Microservices: </a:t>
            </a:r>
            <a:r>
              <a:rPr lang="en-US" sz="2400" b="0" i="0" dirty="0">
                <a:effectLst/>
                <a:latin typeface="Abadi Extra Light" panose="020B0204020104020204" pitchFamily="34" charset="0"/>
              </a:rPr>
              <a:t>Each function (ASR, feature extraction, fusion, dashboard) runs independently, allowing real-time and large-scale deployment.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96AF96-D170-BCF7-3177-BC1613ED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43971D-29B7-7583-4FD7-FC035E302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144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CA34B-5DD5-2720-31C8-D3B9E4468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F0052-0D77-6C37-4A17-263917297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864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Modules Identified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6B4C4F7-7F85-E00D-A9AF-E8B88B0B0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3293"/>
            <a:ext cx="10515600" cy="3995326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effectLst/>
                <a:latin typeface="Abadi Extra Light" panose="020B0204020104020204" pitchFamily="34" charset="0"/>
              </a:rPr>
              <a:t>ASR Module: </a:t>
            </a:r>
            <a:r>
              <a:rPr lang="en-IN" sz="2400" dirty="0">
                <a:effectLst/>
                <a:latin typeface="Abadi Extra Light" panose="020B0204020104020204" pitchFamily="34" charset="0"/>
              </a:rPr>
              <a:t>Converts speech to text transcript.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effectLst/>
                <a:latin typeface="Abadi Extra Light" panose="020B0204020104020204" pitchFamily="34" charset="0"/>
              </a:rPr>
              <a:t>Audio Feature Extractor: </a:t>
            </a:r>
            <a:r>
              <a:rPr lang="en-IN" sz="2400" dirty="0">
                <a:effectLst/>
                <a:latin typeface="Abadi Extra Light" panose="020B0204020104020204" pitchFamily="34" charset="0"/>
              </a:rPr>
              <a:t>Gets pitch, energy, and emotion cues from audio.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effectLst/>
                <a:latin typeface="Abadi Extra Light" panose="020B0204020104020204" pitchFamily="34" charset="0"/>
              </a:rPr>
              <a:t>Text Feature Extractor: </a:t>
            </a:r>
            <a:r>
              <a:rPr lang="en-IN" sz="2400" dirty="0" err="1">
                <a:effectLst/>
                <a:latin typeface="Abadi Extra Light" panose="020B0204020104020204" pitchFamily="34" charset="0"/>
              </a:rPr>
              <a:t>Analyzes</a:t>
            </a:r>
            <a:r>
              <a:rPr lang="en-IN" sz="2400" dirty="0">
                <a:effectLst/>
                <a:latin typeface="Abadi Extra Light" panose="020B0204020104020204" pitchFamily="34" charset="0"/>
              </a:rPr>
              <a:t> transcript for sentiment/context using NLP.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effectLst/>
                <a:latin typeface="Abadi Extra Light" panose="020B0204020104020204" pitchFamily="34" charset="0"/>
              </a:rPr>
              <a:t>Fusion Model: </a:t>
            </a:r>
            <a:r>
              <a:rPr lang="en-IN" sz="2400" dirty="0">
                <a:effectLst/>
                <a:latin typeface="Abadi Extra Light" panose="020B0204020104020204" pitchFamily="34" charset="0"/>
              </a:rPr>
              <a:t>Blends audio and text data via attention for accurate scoring.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effectLst/>
                <a:latin typeface="Abadi Extra Light" panose="020B0204020104020204" pitchFamily="34" charset="0"/>
              </a:rPr>
              <a:t>Sprint Analytics: </a:t>
            </a:r>
            <a:r>
              <a:rPr lang="en-IN" sz="2400" dirty="0">
                <a:effectLst/>
                <a:latin typeface="Abadi Extra Light" panose="020B0204020104020204" pitchFamily="34" charset="0"/>
              </a:rPr>
              <a:t>Real-time call alerts for agent and supervisor.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effectLst/>
                <a:latin typeface="Abadi Extra Light" panose="020B0204020104020204" pitchFamily="34" charset="0"/>
              </a:rPr>
              <a:t>Marathon Analytics: </a:t>
            </a:r>
            <a:r>
              <a:rPr lang="en-IN" sz="2400" dirty="0">
                <a:effectLst/>
                <a:latin typeface="Abadi Extra Light" panose="020B0204020104020204" pitchFamily="34" charset="0"/>
              </a:rPr>
              <a:t>Tracks agent trends, wellness, potential burnout.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 err="1">
                <a:effectLst/>
                <a:latin typeface="Abadi Extra Light" panose="020B0204020104020204" pitchFamily="34" charset="0"/>
              </a:rPr>
              <a:t>Explainability</a:t>
            </a:r>
            <a:r>
              <a:rPr lang="en-IN" sz="2400" b="1" dirty="0">
                <a:effectLst/>
                <a:latin typeface="Abadi Extra Light" panose="020B0204020104020204" pitchFamily="34" charset="0"/>
              </a:rPr>
              <a:t> Dashboard: </a:t>
            </a:r>
            <a:r>
              <a:rPr lang="en-IN" sz="2400" dirty="0">
                <a:effectLst/>
                <a:latin typeface="Abadi Extra Light" panose="020B0204020104020204" pitchFamily="34" charset="0"/>
              </a:rPr>
              <a:t>Shows evidence and trends for supervisor action.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75DA4-AC59-B94D-6E99-BD5523634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165903-8C2A-C9E5-219C-610B688DA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47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75FAD-332B-2384-21F0-F0A481E94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06357-BCF9-ED5C-277F-91C057AD8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0916095-E7B9-3E1E-6014-04BE81994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0" i="0" dirty="0">
                <a:effectLst/>
                <a:latin typeface="Abadi Extra Light" panose="020B0204020104020204" pitchFamily="34" charset="0"/>
              </a:rPr>
              <a:t>The system architecture is modular, using a microservices approach: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badi Extra Light" panose="020B0204020104020204" pitchFamily="34" charset="0"/>
              </a:rPr>
              <a:t>Input Layer: Audio and text data ingestion.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badi Extra Light" panose="020B0204020104020204" pitchFamily="34" charset="0"/>
              </a:rPr>
              <a:t>ASR Service: Real-time transcription.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badi Extra Light" panose="020B0204020104020204" pitchFamily="34" charset="0"/>
              </a:rPr>
              <a:t>Feature Extraction: Separate modules for audio and text feature calculation.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badi Extra Light" panose="020B0204020104020204" pitchFamily="34" charset="0"/>
              </a:rPr>
              <a:t>Fusion Module: Attention-based fusion combines modalities for deeper analysis.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badi Extra Light" panose="020B0204020104020204" pitchFamily="34" charset="0"/>
              </a:rPr>
              <a:t>Monitoring Layer: "Sprint" for real-time intra-call; "Marathon" for longitudinal trends.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 err="1">
                <a:effectLst/>
                <a:latin typeface="Abadi Extra Light" panose="020B0204020104020204" pitchFamily="34" charset="0"/>
              </a:rPr>
              <a:t>Explainability</a:t>
            </a:r>
            <a:r>
              <a:rPr lang="en-US" sz="2400" b="0" i="0" dirty="0">
                <a:effectLst/>
                <a:latin typeface="Abadi Extra Light" panose="020B0204020104020204" pitchFamily="34" charset="0"/>
              </a:rPr>
              <a:t> Layer: Interface for transparent feedback.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badi Extra Light" panose="020B0204020104020204" pitchFamily="34" charset="0"/>
              </a:rPr>
              <a:t>Dashboard/Visualization: Front-end for stakeholders to view metrics, real-time alerts, and long-term reports.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932F70-8AC5-B740-6EC2-AA394E483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3959D9-CB8C-2B8C-68FE-312919E12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878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68E-03F4-5591-4927-5BBB21599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5D3CD-8334-5B04-7AC8-E7289A4F8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Flow diagram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CEA55C-D2BA-5CDF-371F-164C62388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21FE9D-658A-7B18-71CB-F1AE3408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17</a:t>
            </a:fld>
            <a:endParaRPr lang="en-US"/>
          </a:p>
        </p:txBody>
      </p:sp>
      <p:pic>
        <p:nvPicPr>
          <p:cNvPr id="11" name="Picture 10" descr="A diagram of a computer flowchart&#10;&#10;Description automatically generated">
            <a:extLst>
              <a:ext uri="{FF2B5EF4-FFF2-40B4-BE49-F238E27FC236}">
                <a16:creationId xmlns:a16="http://schemas.microsoft.com/office/drawing/2014/main" id="{25EC0F7C-CEBF-1590-836B-10B3C2381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6437"/>
            <a:ext cx="12192000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796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BD924-3564-68D5-736D-08052AA8B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A2BC0-DB83-EC18-BE1C-928CC210E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Time span for Project execution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A46923E-EC79-DEDA-58F0-C3905BE30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n-IN" sz="2400" b="0" i="0" dirty="0">
                <a:effectLst/>
                <a:latin typeface="Abadi Extra Light" panose="020B0204020104020204" pitchFamily="34" charset="0"/>
              </a:rPr>
              <a:t>Month 1: Requirement analysis, data collection, initial ASR deployment.</a:t>
            </a:r>
          </a:p>
          <a:p>
            <a:pPr algn="l">
              <a:buFont typeface="+mj-lt"/>
              <a:buAutoNum type="arabicPeriod"/>
            </a:pPr>
            <a:r>
              <a:rPr lang="en-IN" sz="2400" b="0" i="0" dirty="0">
                <a:effectLst/>
                <a:latin typeface="Abadi Extra Light" panose="020B0204020104020204" pitchFamily="34" charset="0"/>
              </a:rPr>
              <a:t>Month 2: Feature extraction modules and baseline NLP model integration.</a:t>
            </a:r>
          </a:p>
          <a:p>
            <a:pPr algn="l">
              <a:buFont typeface="+mj-lt"/>
              <a:buAutoNum type="arabicPeriod"/>
            </a:pPr>
            <a:r>
              <a:rPr lang="en-IN" sz="2400" b="0" i="0" dirty="0">
                <a:effectLst/>
                <a:latin typeface="Abadi Extra Light" panose="020B0204020104020204" pitchFamily="34" charset="0"/>
              </a:rPr>
              <a:t>Month 3: Multimodal fusion model development, initial real-time monitoring (“Sprint”) deployed.</a:t>
            </a:r>
          </a:p>
          <a:p>
            <a:pPr algn="l">
              <a:buFont typeface="+mj-lt"/>
              <a:buAutoNum type="arabicPeriod"/>
            </a:pPr>
            <a:r>
              <a:rPr lang="en-IN" sz="2400" b="0" i="0" dirty="0">
                <a:effectLst/>
                <a:latin typeface="Abadi Extra Light" panose="020B0204020104020204" pitchFamily="34" charset="0"/>
              </a:rPr>
              <a:t>Month 4: Cross-call trend analysis (“Marathon”), dashboard development.</a:t>
            </a:r>
          </a:p>
          <a:p>
            <a:pPr algn="l">
              <a:buFont typeface="+mj-lt"/>
              <a:buAutoNum type="arabicPeriod"/>
            </a:pPr>
            <a:r>
              <a:rPr lang="en-IN" sz="2400" b="0" i="0" dirty="0">
                <a:effectLst/>
                <a:latin typeface="Abadi Extra Light" panose="020B0204020104020204" pitchFamily="34" charset="0"/>
              </a:rPr>
              <a:t>Month 5: Integration testing, XAI features enabled, refining &amp; scalability.</a:t>
            </a:r>
          </a:p>
          <a:p>
            <a:pPr algn="l">
              <a:buFont typeface="+mj-lt"/>
              <a:buAutoNum type="arabicPeriod"/>
            </a:pPr>
            <a:r>
              <a:rPr lang="en-IN" sz="2400" b="0" i="0" dirty="0">
                <a:effectLst/>
                <a:latin typeface="Abadi Extra Light" panose="020B0204020104020204" pitchFamily="34" charset="0"/>
              </a:rPr>
              <a:t>Month 6: Final deployment, user training, and system documentation.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719BF-85B5-1402-4E2A-09DFF6209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411AE-728F-1C34-9592-BC36CBF1B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238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26149-1E9C-208C-0F2B-9611093B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9E181-C926-4A82-6F7C-CC07442E1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D27600D-A614-7427-6908-D76EB125C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0" i="0" dirty="0">
                <a:effectLst/>
                <a:latin typeface="Abadi Extra Light" panose="020B0204020104020204" pitchFamily="34" charset="0"/>
              </a:rPr>
              <a:t>The HAAM Framework elevates call center analytics from rudimentary, manual methods to a smart, holistic, agent-centric system. With real-time multimodal analysis, hierarchical attention, and transparent </a:t>
            </a:r>
            <a:r>
              <a:rPr lang="en-US" sz="2400" b="0" i="0" dirty="0" err="1">
                <a:effectLst/>
                <a:latin typeface="Abadi Extra Light" panose="020B0204020104020204" pitchFamily="34" charset="0"/>
              </a:rPr>
              <a:t>explainability</a:t>
            </a:r>
            <a:r>
              <a:rPr lang="en-US" sz="2400" b="0" i="0" dirty="0">
                <a:effectLst/>
                <a:latin typeface="Abadi Extra Light" panose="020B0204020104020204" pitchFamily="34" charset="0"/>
              </a:rPr>
              <a:t>, HAAM empowers organizations to boost customer satisfaction, support agent wellness, and take timely action based on actionable insights. Its scalable, adaptable architecture enables deployment across diverse business environments, setting a new benchmark for AI-driven speech analytics in customer service.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AE278A-9EF4-69AB-6D3D-C8D0DEB34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E4775B-E58E-8B95-C092-90D9A5C2E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74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22921-87AE-93DC-1C47-C6B11184E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1A43A-6EE0-0E5A-9A86-6C512620A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C8B3432-0853-5AA4-7CF8-929C12443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2400" b="1" i="0" dirty="0">
                <a:effectLst/>
                <a:latin typeface="Abadi Extra Light" panose="020B0204020104020204" pitchFamily="34" charset="0"/>
              </a:rPr>
              <a:t>Deep learning libraries: </a:t>
            </a:r>
            <a:r>
              <a:rPr lang="en-IN" sz="2400" b="0" i="0" dirty="0" err="1">
                <a:effectLst/>
                <a:latin typeface="Abadi Extra Light" panose="020B0204020104020204" pitchFamily="34" charset="0"/>
              </a:rPr>
              <a:t>PyTorch</a:t>
            </a:r>
            <a:r>
              <a:rPr lang="en-IN" sz="2400" b="0" i="0" dirty="0">
                <a:effectLst/>
                <a:latin typeface="Abadi Extra Light" panose="020B0204020104020204" pitchFamily="34" charset="0"/>
              </a:rPr>
              <a:t>, TensorFlow, </a:t>
            </a:r>
            <a:r>
              <a:rPr lang="en-IN" sz="2400" b="0" i="0" dirty="0" err="1">
                <a:effectLst/>
                <a:latin typeface="Abadi Extra Light" panose="020B0204020104020204" pitchFamily="34" charset="0"/>
              </a:rPr>
              <a:t>HuggingFace</a:t>
            </a:r>
            <a:r>
              <a:rPr lang="en-IN" sz="2400" b="0" i="0" dirty="0">
                <a:effectLst/>
                <a:latin typeface="Abadi Extra Light" panose="020B0204020104020204" pitchFamily="34" charset="0"/>
              </a:rPr>
              <a:t> Transformers.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1" i="0" dirty="0">
                <a:effectLst/>
                <a:latin typeface="Abadi Extra Light" panose="020B0204020104020204" pitchFamily="34" charset="0"/>
              </a:rPr>
              <a:t>Speech processing: </a:t>
            </a:r>
            <a:r>
              <a:rPr lang="en-IN" sz="2400" b="0" i="0" dirty="0" err="1">
                <a:effectLst/>
                <a:latin typeface="Abadi Extra Light" panose="020B0204020104020204" pitchFamily="34" charset="0"/>
              </a:rPr>
              <a:t>Librosa</a:t>
            </a:r>
            <a:r>
              <a:rPr lang="en-IN" sz="2400" b="0" i="0" dirty="0">
                <a:effectLst/>
                <a:latin typeface="Abadi Extra Light" panose="020B0204020104020204" pitchFamily="34" charset="0"/>
              </a:rPr>
              <a:t>, </a:t>
            </a:r>
            <a:r>
              <a:rPr lang="en-IN" sz="2400" b="0" i="0" dirty="0" err="1">
                <a:effectLst/>
                <a:latin typeface="Abadi Extra Light" panose="020B0204020104020204" pitchFamily="34" charset="0"/>
              </a:rPr>
              <a:t>Praat</a:t>
            </a:r>
            <a:r>
              <a:rPr lang="en-IN" sz="2400" b="0" i="0" dirty="0">
                <a:effectLst/>
                <a:latin typeface="Abadi Extra Light" panose="020B0204020104020204" pitchFamily="34" charset="0"/>
              </a:rPr>
              <a:t>, </a:t>
            </a:r>
            <a:r>
              <a:rPr lang="en-IN" sz="2400" b="0" i="0" dirty="0" err="1">
                <a:effectLst/>
                <a:latin typeface="Abadi Extra Light" panose="020B0204020104020204" pitchFamily="34" charset="0"/>
              </a:rPr>
              <a:t>OpenSMILE</a:t>
            </a:r>
            <a:r>
              <a:rPr lang="en-IN" sz="2400" b="0" i="0" dirty="0">
                <a:effectLst/>
                <a:latin typeface="Abadi Extra Light" panose="020B0204020104020204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1" i="0" dirty="0">
                <a:effectLst/>
                <a:latin typeface="Abadi Extra Light" panose="020B0204020104020204" pitchFamily="34" charset="0"/>
              </a:rPr>
              <a:t>ASR Technology: </a:t>
            </a:r>
            <a:r>
              <a:rPr lang="en-IN" sz="2400" b="0" i="0" dirty="0">
                <a:effectLst/>
                <a:latin typeface="Abadi Extra Light" panose="020B0204020104020204" pitchFamily="34" charset="0"/>
              </a:rPr>
              <a:t>Wav2Vec 2.0, </a:t>
            </a:r>
            <a:r>
              <a:rPr lang="en-IN" sz="2400" b="0" i="0" dirty="0" err="1">
                <a:effectLst/>
                <a:latin typeface="Abadi Extra Light" panose="020B0204020104020204" pitchFamily="34" charset="0"/>
              </a:rPr>
              <a:t>DeepSpeech</a:t>
            </a:r>
            <a:r>
              <a:rPr lang="en-IN" sz="2400" b="0" i="0" dirty="0">
                <a:effectLst/>
                <a:latin typeface="Abadi Extra Light" panose="020B0204020104020204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1" i="0" dirty="0">
                <a:effectLst/>
                <a:latin typeface="Abadi Extra Light" panose="020B0204020104020204" pitchFamily="34" charset="0"/>
              </a:rPr>
              <a:t>Dashboard frameworks: </a:t>
            </a:r>
            <a:r>
              <a:rPr lang="en-IN" sz="2400" b="0" i="0" dirty="0">
                <a:effectLst/>
                <a:latin typeface="Abadi Extra Light" panose="020B0204020104020204" pitchFamily="34" charset="0"/>
              </a:rPr>
              <a:t>Dash, </a:t>
            </a:r>
            <a:r>
              <a:rPr lang="en-IN" sz="2400" b="0" i="0" dirty="0" err="1">
                <a:effectLst/>
                <a:latin typeface="Abadi Extra Light" panose="020B0204020104020204" pitchFamily="34" charset="0"/>
              </a:rPr>
              <a:t>Plotly</a:t>
            </a:r>
            <a:r>
              <a:rPr lang="en-IN" sz="2400" b="0" i="0" dirty="0">
                <a:effectLst/>
                <a:latin typeface="Abadi Extra Light" panose="020B0204020104020204" pitchFamily="34" charset="0"/>
              </a:rPr>
              <a:t>, React.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1" i="0" dirty="0">
                <a:effectLst/>
                <a:latin typeface="Abadi Extra Light" panose="020B0204020104020204" pitchFamily="34" charset="0"/>
              </a:rPr>
              <a:t>Explainable AI: </a:t>
            </a:r>
            <a:r>
              <a:rPr lang="en-IN" sz="2400" b="0" i="0" dirty="0" err="1">
                <a:effectLst/>
                <a:latin typeface="Abadi Extra Light" panose="020B0204020104020204" pitchFamily="34" charset="0"/>
              </a:rPr>
              <a:t>Captum</a:t>
            </a:r>
            <a:r>
              <a:rPr lang="en-IN" sz="2400" b="0" i="0" dirty="0">
                <a:effectLst/>
                <a:latin typeface="Abadi Extra Light" panose="020B0204020104020204" pitchFamily="34" charset="0"/>
              </a:rPr>
              <a:t>, SHAP, LIME.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1" i="0" dirty="0">
                <a:effectLst/>
                <a:latin typeface="Abadi Extra Light" panose="020B0204020104020204" pitchFamily="34" charset="0"/>
              </a:rPr>
              <a:t>Key public datasets: </a:t>
            </a:r>
            <a:r>
              <a:rPr lang="en-IN" sz="2400" b="0" i="0" dirty="0">
                <a:effectLst/>
                <a:latin typeface="Abadi Extra Light" panose="020B0204020104020204" pitchFamily="34" charset="0"/>
              </a:rPr>
              <a:t>IEMOCAP, MSP-Podcast, CMU-MOSEI, CMU-MOSI.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Abadi Extra Light" panose="020B0204020104020204" pitchFamily="34" charset="0"/>
              </a:rPr>
              <a:t>Research papers and existing benchmark studies on speech analytics and multimodal agent monitoring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80B6D1-F9E2-FA01-A018-971EE80C9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3C7A3D-C4C7-87EC-0E6E-F767591AC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344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1991</Words>
  <Application>Microsoft Office PowerPoint</Application>
  <PresentationFormat>Widescreen</PresentationFormat>
  <Paragraphs>275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Abadi</vt:lpstr>
      <vt:lpstr>Abadi Extra Light</vt:lpstr>
      <vt:lpstr>Aharoni</vt:lpstr>
      <vt:lpstr>Arial</vt:lpstr>
      <vt:lpstr>Calibri</vt:lpstr>
      <vt:lpstr>Calibri Light</vt:lpstr>
      <vt:lpstr>Cambria</vt:lpstr>
      <vt:lpstr>fkGroteskNeue</vt:lpstr>
      <vt:lpstr>Lucida Bright</vt:lpstr>
      <vt:lpstr>Times New Roman</vt:lpstr>
      <vt:lpstr>Office Theme</vt:lpstr>
      <vt:lpstr> Project Phase – I: Review - II Voice-Based Sentiment and Context Analysis System for Call Center Performance and Trend Monitoring</vt:lpstr>
      <vt:lpstr>Agenda</vt:lpstr>
      <vt:lpstr>Domain of the Project:</vt:lpstr>
      <vt:lpstr>Why we chosen this domain? Relate the domain with your project</vt:lpstr>
      <vt:lpstr>Problem Statement</vt:lpstr>
      <vt:lpstr>Scope of the project</vt:lpstr>
      <vt:lpstr>Project Objective:</vt:lpstr>
      <vt:lpstr>Existing system &amp; Technique used</vt:lpstr>
      <vt:lpstr>Drawbacks of existing system</vt:lpstr>
      <vt:lpstr>Literature review</vt:lpstr>
      <vt:lpstr>Literature review</vt:lpstr>
      <vt:lpstr>Literature review</vt:lpstr>
      <vt:lpstr>Proposed system:</vt:lpstr>
      <vt:lpstr>Proposed system: Technique and methods used</vt:lpstr>
      <vt:lpstr>Modules Identified</vt:lpstr>
      <vt:lpstr>System Architecture</vt:lpstr>
      <vt:lpstr>Flow diagram</vt:lpstr>
      <vt:lpstr>Time span for Project execution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Project Phase – I: Review - II Voice-Based Sentiment and Context Analysis System for Call Center Performance and Trend Monitoring</dc:title>
  <dc:creator>user</dc:creator>
  <cp:lastModifiedBy>Sham Ganesh S</cp:lastModifiedBy>
  <cp:revision>15</cp:revision>
  <dcterms:created xsi:type="dcterms:W3CDTF">2025-07-12T06:44:56Z</dcterms:created>
  <dcterms:modified xsi:type="dcterms:W3CDTF">2025-08-22T04:43:46Z</dcterms:modified>
</cp:coreProperties>
</file>